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/Wwangyesheji/docs/ppt_assets/stock/hero_dogs_unsplas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B35">
              <a:alpha val="66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6629400" cy="6858000"/>
          </a:xfrm>
          <a:prstGeom prst="rect">
            <a:avLst/>
          </a:prstGeom>
          <a:solidFill>
            <a:srgbClr val="173B35">
              <a:alpha val="9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 rot="-360000">
            <a:off x="8046720" y="5321808"/>
            <a:ext cx="4572000" cy="822960"/>
          </a:xfrm>
          <a:prstGeom prst="rect">
            <a:avLst/>
          </a:prstGeom>
          <a:solidFill>
            <a:srgbClr val="F08A5D">
              <a:alpha val="86000"/>
            </a:srgbClr>
          </a:solidFill>
          <a:ln/>
        </p:spPr>
      </p:sp>
      <p:sp>
        <p:nvSpPr>
          <p:cNvPr id="6" name="Shape 3"/>
          <p:cNvSpPr/>
          <p:nvPr/>
        </p:nvSpPr>
        <p:spPr>
          <a:xfrm rot="420000">
            <a:off x="-731520" y="5779008"/>
            <a:ext cx="4846320" cy="822960"/>
          </a:xfrm>
          <a:prstGeom prst="rect">
            <a:avLst/>
          </a:prstGeom>
          <a:solidFill>
            <a:srgbClr val="7C6FF6">
              <a:alpha val="8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92968" y="1122883"/>
            <a:ext cx="572049" cy="572049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8" name="Shape 5"/>
          <p:cNvSpPr/>
          <p:nvPr/>
        </p:nvSpPr>
        <p:spPr>
          <a:xfrm>
            <a:off x="692018" y="769559"/>
            <a:ext cx="201900" cy="201900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9" name="Shape 6"/>
          <p:cNvSpPr/>
          <p:nvPr/>
        </p:nvSpPr>
        <p:spPr>
          <a:xfrm>
            <a:off x="969630" y="668609"/>
            <a:ext cx="218724" cy="218724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10" name="Shape 7"/>
          <p:cNvSpPr/>
          <p:nvPr/>
        </p:nvSpPr>
        <p:spPr>
          <a:xfrm>
            <a:off x="1255654" y="769559"/>
            <a:ext cx="201900" cy="201900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2057400"/>
            <a:ext cx="6583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300" kern="0" dirty="0">
                <a:solidFill>
                  <a:srgbClr val="CBA9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本科毕业设计 · 答辩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1248" y="2578608"/>
            <a:ext cx="566928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流浪动物救助与领养</a:t>
            </a:r>
            <a:endParaRPr lang="en-US" sz="4200" dirty="0"/>
          </a:p>
        </p:txBody>
      </p:sp>
      <p:sp>
        <p:nvSpPr>
          <p:cNvPr id="13" name="Text 10"/>
          <p:cNvSpPr/>
          <p:nvPr/>
        </p:nvSpPr>
        <p:spPr>
          <a:xfrm>
            <a:off x="841248" y="3337560"/>
            <a:ext cx="621792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管理系统的设计与实现</a:t>
            </a:r>
            <a:endParaRPr lang="en-US" sz="4200" dirty="0"/>
          </a:p>
        </p:txBody>
      </p:sp>
      <p:sp>
        <p:nvSpPr>
          <p:cNvPr id="14" name="Text 11"/>
          <p:cNvSpPr/>
          <p:nvPr/>
        </p:nvSpPr>
        <p:spPr>
          <a:xfrm>
            <a:off x="877824" y="4315968"/>
            <a:ext cx="603504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CFE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救助上报 · 在线领养 · 审核闭环 · 回访跟踪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877824" y="4892040"/>
            <a:ext cx="1554480" cy="438912"/>
          </a:xfrm>
          <a:prstGeom prst="roundRect">
            <a:avLst>
              <a:gd name="adj" fmla="val 16667"/>
            </a:avLst>
          </a:prstGeom>
          <a:solidFill>
            <a:srgbClr val="1E3A34"/>
          </a:solidFill>
          <a:ln/>
        </p:spPr>
      </p:sp>
      <p:sp>
        <p:nvSpPr>
          <p:cNvPr id="16" name="Shape 13"/>
          <p:cNvSpPr/>
          <p:nvPr/>
        </p:nvSpPr>
        <p:spPr>
          <a:xfrm>
            <a:off x="1060704" y="5047488"/>
            <a:ext cx="128016" cy="128016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17" name="Text 14"/>
          <p:cNvSpPr/>
          <p:nvPr/>
        </p:nvSpPr>
        <p:spPr>
          <a:xfrm>
            <a:off x="1271016" y="4892040"/>
            <a:ext cx="105156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578608" y="4892040"/>
            <a:ext cx="1737360" cy="438912"/>
          </a:xfrm>
          <a:prstGeom prst="roundRect">
            <a:avLst>
              <a:gd name="adj" fmla="val 16667"/>
            </a:avLst>
          </a:prstGeom>
          <a:solidFill>
            <a:srgbClr val="1E3A34"/>
          </a:solidFill>
          <a:ln/>
        </p:spPr>
      </p:sp>
      <p:sp>
        <p:nvSpPr>
          <p:cNvPr id="19" name="Shape 16"/>
          <p:cNvSpPr/>
          <p:nvPr/>
        </p:nvSpPr>
        <p:spPr>
          <a:xfrm>
            <a:off x="2761488" y="5047488"/>
            <a:ext cx="128016" cy="128016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20" name="Text 17"/>
          <p:cNvSpPr/>
          <p:nvPr/>
        </p:nvSpPr>
        <p:spPr>
          <a:xfrm>
            <a:off x="2971800" y="4892040"/>
            <a:ext cx="12344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Express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462272" y="4892040"/>
            <a:ext cx="1600200" cy="438912"/>
          </a:xfrm>
          <a:prstGeom prst="roundRect">
            <a:avLst>
              <a:gd name="adj" fmla="val 16667"/>
            </a:avLst>
          </a:prstGeom>
          <a:solidFill>
            <a:srgbClr val="1E3A34"/>
          </a:solidFill>
          <a:ln/>
        </p:spPr>
      </p:sp>
      <p:sp>
        <p:nvSpPr>
          <p:cNvPr id="22" name="Shape 19"/>
          <p:cNvSpPr/>
          <p:nvPr/>
        </p:nvSpPr>
        <p:spPr>
          <a:xfrm>
            <a:off x="4645152" y="5047488"/>
            <a:ext cx="128016" cy="128016"/>
          </a:xfrm>
          <a:prstGeom prst="ellipse">
            <a:avLst/>
          </a:prstGeom>
          <a:solidFill>
            <a:srgbClr val="3BAFDA"/>
          </a:solidFill>
          <a:ln/>
        </p:spPr>
      </p:sp>
      <p:sp>
        <p:nvSpPr>
          <p:cNvPr id="23" name="Text 20"/>
          <p:cNvSpPr/>
          <p:nvPr/>
        </p:nvSpPr>
        <p:spPr>
          <a:xfrm>
            <a:off x="4855464" y="4892040"/>
            <a:ext cx="10972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77824" y="5742432"/>
            <a:ext cx="64922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CFE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答辩人：[姓名]    学号：[学号]    指导教师：[指导教师]</a:t>
            </a:r>
            <a:endParaRPr lang="en-US" sz="1280" dirty="0"/>
          </a:p>
        </p:txBody>
      </p:sp>
      <p:sp>
        <p:nvSpPr>
          <p:cNvPr id="25" name="Text 22"/>
          <p:cNvSpPr/>
          <p:nvPr/>
        </p:nvSpPr>
        <p:spPr>
          <a:xfrm>
            <a:off x="877824" y="6163056"/>
            <a:ext cx="64922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CFE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[学院] · [专业] · 2026.06</a:t>
            </a:r>
            <a:endParaRPr lang="en-US" sz="12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3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B35"/>
          </a:solidFill>
          <a:ln/>
        </p:spPr>
      </p:sp>
      <p:sp>
        <p:nvSpPr>
          <p:cNvPr id="3" name="Shape 1"/>
          <p:cNvSpPr/>
          <p:nvPr/>
        </p:nvSpPr>
        <p:spPr>
          <a:xfrm rot="540000">
            <a:off x="7406640" y="-320040"/>
            <a:ext cx="5303520" cy="1920240"/>
          </a:xfrm>
          <a:prstGeom prst="rect">
            <a:avLst/>
          </a:prstGeom>
          <a:solidFill>
            <a:srgbClr val="267E6C">
              <a:alpha val="7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420000">
            <a:off x="8046720" y="5074920"/>
            <a:ext cx="4572000" cy="1097280"/>
          </a:xfrm>
          <a:prstGeom prst="rect">
            <a:avLst/>
          </a:prstGeom>
          <a:solidFill>
            <a:srgbClr val="F08A5D">
              <a:alpha val="8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420000">
            <a:off x="-777240" y="5715000"/>
            <a:ext cx="4754880" cy="1005840"/>
          </a:xfrm>
          <a:prstGeom prst="rect">
            <a:avLst/>
          </a:prstGeom>
          <a:solidFill>
            <a:srgbClr val="7C6FF6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69142" y="5797296"/>
            <a:ext cx="373075" cy="373075"/>
          </a:xfrm>
          <a:prstGeom prst="ellipse">
            <a:avLst/>
          </a:prstGeom>
          <a:solidFill>
            <a:srgbClr val="1E3A34"/>
          </a:solidFill>
          <a:ln/>
        </p:spPr>
      </p:sp>
      <p:sp>
        <p:nvSpPr>
          <p:cNvPr id="7" name="Shape 5"/>
          <p:cNvSpPr/>
          <p:nvPr/>
        </p:nvSpPr>
        <p:spPr>
          <a:xfrm>
            <a:off x="10903306" y="5566867"/>
            <a:ext cx="131674" cy="131674"/>
          </a:xfrm>
          <a:prstGeom prst="ellipse">
            <a:avLst/>
          </a:prstGeom>
          <a:solidFill>
            <a:srgbClr val="1E3A34"/>
          </a:solidFill>
          <a:ln/>
        </p:spPr>
      </p:sp>
      <p:sp>
        <p:nvSpPr>
          <p:cNvPr id="8" name="Shape 6"/>
          <p:cNvSpPr/>
          <p:nvPr/>
        </p:nvSpPr>
        <p:spPr>
          <a:xfrm>
            <a:off x="11084357" y="5501030"/>
            <a:ext cx="142646" cy="142646"/>
          </a:xfrm>
          <a:prstGeom prst="ellipse">
            <a:avLst/>
          </a:prstGeom>
          <a:solidFill>
            <a:srgbClr val="1E3A34"/>
          </a:solidFill>
          <a:ln/>
        </p:spPr>
      </p:sp>
      <p:sp>
        <p:nvSpPr>
          <p:cNvPr id="9" name="Shape 7"/>
          <p:cNvSpPr/>
          <p:nvPr/>
        </p:nvSpPr>
        <p:spPr>
          <a:xfrm>
            <a:off x="11270894" y="5566867"/>
            <a:ext cx="131674" cy="131674"/>
          </a:xfrm>
          <a:prstGeom prst="ellipse">
            <a:avLst/>
          </a:prstGeom>
          <a:solidFill>
            <a:srgbClr val="1E3A3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731520"/>
            <a:ext cx="5486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spc="400" kern="0" dirty="0">
                <a:solidFill>
                  <a:srgbClr val="CBA9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1115568"/>
            <a:ext cx="54864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汇报提纲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77824" y="1828800"/>
            <a:ext cx="55778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E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从问题背景到系统实现，再落到工程质量和交付运行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2487168"/>
            <a:ext cx="7772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F9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2487168"/>
            <a:ext cx="45262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选题背景与意义</a:t>
            </a:r>
            <a:endParaRPr lang="en-US" sz="1460" dirty="0"/>
          </a:p>
        </p:txBody>
      </p:sp>
      <p:sp>
        <p:nvSpPr>
          <p:cNvPr id="15" name="Shape 13"/>
          <p:cNvSpPr/>
          <p:nvPr/>
        </p:nvSpPr>
        <p:spPr>
          <a:xfrm>
            <a:off x="1737360" y="3090672"/>
            <a:ext cx="4297680" cy="12802"/>
          </a:xfrm>
          <a:prstGeom prst="rect">
            <a:avLst/>
          </a:prstGeom>
          <a:solidFill>
            <a:srgbClr val="1E3A34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487168"/>
            <a:ext cx="7772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08A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15200" y="2487168"/>
            <a:ext cx="45262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</a:t>
            </a:r>
            <a:endParaRPr lang="en-US" sz="1460" dirty="0"/>
          </a:p>
        </p:txBody>
      </p:sp>
      <p:sp>
        <p:nvSpPr>
          <p:cNvPr id="18" name="Shape 16"/>
          <p:cNvSpPr/>
          <p:nvPr/>
        </p:nvSpPr>
        <p:spPr>
          <a:xfrm>
            <a:off x="7315200" y="3090672"/>
            <a:ext cx="4297680" cy="12802"/>
          </a:xfrm>
          <a:prstGeom prst="rect">
            <a:avLst/>
          </a:prstGeom>
          <a:solidFill>
            <a:srgbClr val="1E3A34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291840"/>
            <a:ext cx="7772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F9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737360" y="3291840"/>
            <a:ext cx="45262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系统总体设计</a:t>
            </a:r>
            <a:endParaRPr lang="en-US" sz="1460" dirty="0"/>
          </a:p>
        </p:txBody>
      </p:sp>
      <p:sp>
        <p:nvSpPr>
          <p:cNvPr id="21" name="Shape 19"/>
          <p:cNvSpPr/>
          <p:nvPr/>
        </p:nvSpPr>
        <p:spPr>
          <a:xfrm>
            <a:off x="1737360" y="3895344"/>
            <a:ext cx="4297680" cy="12802"/>
          </a:xfrm>
          <a:prstGeom prst="rect">
            <a:avLst/>
          </a:prstGeom>
          <a:solidFill>
            <a:srgbClr val="1E3A34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291840"/>
            <a:ext cx="7772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08A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315200" y="3291840"/>
            <a:ext cx="45262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</a:t>
            </a:r>
            <a:endParaRPr lang="en-US" sz="1460" dirty="0"/>
          </a:p>
        </p:txBody>
      </p:sp>
      <p:sp>
        <p:nvSpPr>
          <p:cNvPr id="24" name="Shape 22"/>
          <p:cNvSpPr/>
          <p:nvPr/>
        </p:nvSpPr>
        <p:spPr>
          <a:xfrm>
            <a:off x="7315200" y="3895344"/>
            <a:ext cx="4297680" cy="12802"/>
          </a:xfrm>
          <a:prstGeom prst="rect">
            <a:avLst/>
          </a:prstGeom>
          <a:solidFill>
            <a:srgbClr val="1E3A34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096512"/>
            <a:ext cx="7772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F9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737360" y="4096512"/>
            <a:ext cx="45262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功能实现（前台 / 闭环 / 后台）</a:t>
            </a:r>
            <a:endParaRPr lang="en-US" sz="1460" dirty="0"/>
          </a:p>
        </p:txBody>
      </p:sp>
      <p:sp>
        <p:nvSpPr>
          <p:cNvPr id="27" name="Shape 25"/>
          <p:cNvSpPr/>
          <p:nvPr/>
        </p:nvSpPr>
        <p:spPr>
          <a:xfrm>
            <a:off x="1737360" y="4700016"/>
            <a:ext cx="4297680" cy="12802"/>
          </a:xfrm>
          <a:prstGeom prst="rect">
            <a:avLst/>
          </a:prstGeom>
          <a:solidFill>
            <a:srgbClr val="1E3A34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4096512"/>
            <a:ext cx="7772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08A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315200" y="4096512"/>
            <a:ext cx="45262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创新点与特色</a:t>
            </a:r>
            <a:endParaRPr lang="en-US" sz="1460" dirty="0"/>
          </a:p>
        </p:txBody>
      </p:sp>
      <p:sp>
        <p:nvSpPr>
          <p:cNvPr id="30" name="Shape 28"/>
          <p:cNvSpPr/>
          <p:nvPr/>
        </p:nvSpPr>
        <p:spPr>
          <a:xfrm>
            <a:off x="7315200" y="4700016"/>
            <a:ext cx="4297680" cy="12802"/>
          </a:xfrm>
          <a:prstGeom prst="rect">
            <a:avLst/>
          </a:prstGeom>
          <a:solidFill>
            <a:srgbClr val="1E3A34"/>
          </a:solidFill>
          <a:ln/>
        </p:spPr>
      </p:sp>
      <p:sp>
        <p:nvSpPr>
          <p:cNvPr id="31" name="Text 29"/>
          <p:cNvSpPr/>
          <p:nvPr/>
        </p:nvSpPr>
        <p:spPr>
          <a:xfrm>
            <a:off x="868680" y="4901184"/>
            <a:ext cx="7772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F9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737360" y="4901184"/>
            <a:ext cx="45262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工程质量 · 安全 · 测试</a:t>
            </a:r>
            <a:endParaRPr lang="en-US" sz="1460" dirty="0"/>
          </a:p>
        </p:txBody>
      </p:sp>
      <p:sp>
        <p:nvSpPr>
          <p:cNvPr id="33" name="Shape 31"/>
          <p:cNvSpPr/>
          <p:nvPr/>
        </p:nvSpPr>
        <p:spPr>
          <a:xfrm>
            <a:off x="1737360" y="5504688"/>
            <a:ext cx="4297680" cy="12802"/>
          </a:xfrm>
          <a:prstGeom prst="rect">
            <a:avLst/>
          </a:prstGeom>
          <a:solidFill>
            <a:srgbClr val="1E3A34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4901184"/>
            <a:ext cx="7772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08A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315200" y="4901184"/>
            <a:ext cx="45262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6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 · 不足与展望</a:t>
            </a:r>
            <a:endParaRPr lang="en-US" sz="1460" dirty="0"/>
          </a:p>
        </p:txBody>
      </p:sp>
      <p:sp>
        <p:nvSpPr>
          <p:cNvPr id="36" name="Shape 34"/>
          <p:cNvSpPr/>
          <p:nvPr/>
        </p:nvSpPr>
        <p:spPr>
          <a:xfrm>
            <a:off x="7315200" y="5504688"/>
            <a:ext cx="4297680" cy="12802"/>
          </a:xfrm>
          <a:prstGeom prst="rect">
            <a:avLst/>
          </a:prstGeom>
          <a:solidFill>
            <a:srgbClr val="1E3A34"/>
          </a:solidFill>
          <a:ln/>
        </p:spPr>
      </p:sp>
      <p:sp>
        <p:nvSpPr>
          <p:cNvPr id="37" name="Shape 35"/>
          <p:cNvSpPr/>
          <p:nvPr/>
        </p:nvSpPr>
        <p:spPr>
          <a:xfrm>
            <a:off x="868680" y="5943600"/>
            <a:ext cx="2514600" cy="512064"/>
          </a:xfrm>
          <a:prstGeom prst="roundRect">
            <a:avLst>
              <a:gd name="adj" fmla="val 17857"/>
            </a:avLst>
          </a:prstGeom>
          <a:solidFill>
            <a:srgbClr val="1E3A34"/>
          </a:solidFill>
          <a:ln/>
        </p:spPr>
      </p:sp>
      <p:sp>
        <p:nvSpPr>
          <p:cNvPr id="38" name="Text 36"/>
          <p:cNvSpPr/>
          <p:nvPr/>
        </p:nvSpPr>
        <p:spPr>
          <a:xfrm>
            <a:off x="1033272" y="5907024"/>
            <a:ext cx="777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CBA9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783080" y="6016752"/>
            <a:ext cx="150876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E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页答辩结构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611880" y="5943600"/>
            <a:ext cx="2514600" cy="512064"/>
          </a:xfrm>
          <a:prstGeom prst="roundRect">
            <a:avLst>
              <a:gd name="adj" fmla="val 17857"/>
            </a:avLst>
          </a:prstGeom>
          <a:solidFill>
            <a:srgbClr val="1E3A34"/>
          </a:solidFill>
          <a:ln/>
        </p:spPr>
      </p:sp>
      <p:sp>
        <p:nvSpPr>
          <p:cNvPr id="41" name="Text 39"/>
          <p:cNvSpPr/>
          <p:nvPr/>
        </p:nvSpPr>
        <p:spPr>
          <a:xfrm>
            <a:off x="3776472" y="5907024"/>
            <a:ext cx="777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CBA9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26280" y="6016752"/>
            <a:ext cx="150876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E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张数据表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355080" y="5943600"/>
            <a:ext cx="2514600" cy="512064"/>
          </a:xfrm>
          <a:prstGeom prst="roundRect">
            <a:avLst>
              <a:gd name="adj" fmla="val 17857"/>
            </a:avLst>
          </a:prstGeom>
          <a:solidFill>
            <a:srgbClr val="1E3A34"/>
          </a:solidFill>
          <a:ln/>
        </p:spPr>
      </p:sp>
      <p:sp>
        <p:nvSpPr>
          <p:cNvPr id="44" name="Text 42"/>
          <p:cNvSpPr/>
          <p:nvPr/>
        </p:nvSpPr>
        <p:spPr>
          <a:xfrm>
            <a:off x="6519672" y="5907024"/>
            <a:ext cx="777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CBA9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约67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7269480" y="6016752"/>
            <a:ext cx="150876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E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个接口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098280" y="5943600"/>
            <a:ext cx="2514600" cy="512064"/>
          </a:xfrm>
          <a:prstGeom prst="roundRect">
            <a:avLst>
              <a:gd name="adj" fmla="val 17857"/>
            </a:avLst>
          </a:prstGeom>
          <a:solidFill>
            <a:srgbClr val="1E3A34"/>
          </a:solidFill>
          <a:ln/>
        </p:spPr>
      </p:sp>
      <p:sp>
        <p:nvSpPr>
          <p:cNvPr id="47" name="Text 45"/>
          <p:cNvSpPr/>
          <p:nvPr/>
        </p:nvSpPr>
        <p:spPr>
          <a:xfrm>
            <a:off x="9262872" y="5907024"/>
            <a:ext cx="777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CBA9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10012680" y="6016752"/>
            <a:ext cx="150876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FE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个前端页面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-640080" y="6263640"/>
            <a:ext cx="4572000" cy="594360"/>
          </a:xfrm>
          <a:prstGeom prst="rect">
            <a:avLst/>
          </a:prstGeom>
          <a:solidFill>
            <a:srgbClr val="E9F8F2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480000">
            <a:off x="8732520" y="201168"/>
            <a:ext cx="4114800" cy="502920"/>
          </a:xfrm>
          <a:prstGeom prst="rect">
            <a:avLst/>
          </a:prstGeom>
          <a:solidFill>
            <a:srgbClr val="E8F5FB">
              <a:alpha val="9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300000">
            <a:off x="9464040" y="5522976"/>
            <a:ext cx="2651760" cy="384048"/>
          </a:xfrm>
          <a:prstGeom prst="rect">
            <a:avLst/>
          </a:prstGeom>
          <a:solidFill>
            <a:srgbClr val="FBE8EF">
              <a:alpha val="9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66928"/>
            <a:ext cx="73152" cy="603504"/>
          </a:xfrm>
          <a:prstGeom prst="rect">
            <a:avLst/>
          </a:prstGeom>
          <a:solidFill>
            <a:srgbClr val="2F9E87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spc="100" kern="0" dirty="0">
                <a:solidFill>
                  <a:srgbClr val="2F9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选题背景与意义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8096" y="822960"/>
            <a:ext cx="1078992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为什么做这个系统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1591056"/>
            <a:ext cx="11091672" cy="18288"/>
          </a:xfrm>
          <a:prstGeom prst="rect">
            <a:avLst/>
          </a:prstGeom>
          <a:solidFill>
            <a:srgbClr val="E3EAE6"/>
          </a:solidFill>
          <a:ln/>
        </p:spPr>
      </p:sp>
      <p:sp>
        <p:nvSpPr>
          <p:cNvPr id="9" name="Text 7"/>
          <p:cNvSpPr/>
          <p:nvPr/>
        </p:nvSpPr>
        <p:spPr>
          <a:xfrm>
            <a:off x="10637215" y="6400800"/>
            <a:ext cx="1188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828800"/>
            <a:ext cx="3886200" cy="4315968"/>
          </a:xfrm>
          <a:prstGeom prst="roundRect">
            <a:avLst>
              <a:gd name="adj" fmla="val 2824"/>
            </a:avLst>
          </a:prstGeom>
          <a:solidFill>
            <a:srgbClr val="173B35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2121408"/>
            <a:ext cx="3246120" cy="8046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传统救助管理的</a:t>
            </a:r>
            <a:endParaRPr lang="en-US" sz="26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三个断点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68680" y="3246120"/>
            <a:ext cx="420624" cy="420624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246120"/>
            <a:ext cx="420624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44752" y="3227832"/>
            <a:ext cx="8686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信息散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304288" y="3227832"/>
            <a:ext cx="17830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CFE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电话/群聊里找线索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868680" y="3959352"/>
            <a:ext cx="420624" cy="420624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959352"/>
            <a:ext cx="420624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44752" y="3941064"/>
            <a:ext cx="8686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流程断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2304288" y="3941064"/>
            <a:ext cx="17830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CFE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申请、审核、回访分散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868680" y="4672584"/>
            <a:ext cx="420624" cy="420624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672584"/>
            <a:ext cx="420624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44752" y="4654296"/>
            <a:ext cx="8686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数据弱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2304288" y="4654296"/>
            <a:ext cx="17830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CFE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难统计成效与待办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868680" y="5623560"/>
            <a:ext cx="32004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BA9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系统目标：把救助、领养、审核、回访变成一条可追溯的业务链。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1847088"/>
            <a:ext cx="29260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2F9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本系统的价值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800600" y="2267712"/>
            <a:ext cx="38862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2267712"/>
            <a:ext cx="73152" cy="896112"/>
          </a:xfrm>
          <a:prstGeom prst="rect">
            <a:avLst>
              <a:gd name="adj" fmla="val 125000"/>
            </a:avLst>
          </a:prstGeom>
          <a:solidFill>
            <a:srgbClr val="2F9E87"/>
          </a:solidFill>
          <a:ln/>
        </p:spPr>
      </p:sp>
      <p:sp>
        <p:nvSpPr>
          <p:cNvPr id="28" name="Shape 26"/>
          <p:cNvSpPr/>
          <p:nvPr/>
        </p:nvSpPr>
        <p:spPr>
          <a:xfrm>
            <a:off x="5074920" y="2450592"/>
            <a:ext cx="475488" cy="475488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29" name="Text 27"/>
          <p:cNvSpPr/>
          <p:nvPr/>
        </p:nvSpPr>
        <p:spPr>
          <a:xfrm>
            <a:off x="5074920" y="2450592"/>
            <a:ext cx="47548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742432" y="2395728"/>
            <a:ext cx="26060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线上化</a:t>
            </a:r>
            <a:endParaRPr lang="en-US" sz="1340" dirty="0"/>
          </a:p>
        </p:txBody>
      </p:sp>
      <p:sp>
        <p:nvSpPr>
          <p:cNvPr id="31" name="Text 29"/>
          <p:cNvSpPr/>
          <p:nvPr/>
        </p:nvSpPr>
        <p:spPr>
          <a:xfrm>
            <a:off x="5742432" y="2743200"/>
            <a:ext cx="2560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统一入口承接浏览、领养、救助求助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4800600" y="3383280"/>
            <a:ext cx="38862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3383280"/>
            <a:ext cx="73152" cy="896112"/>
          </a:xfrm>
          <a:prstGeom prst="rect">
            <a:avLst>
              <a:gd name="adj" fmla="val 125000"/>
            </a:avLst>
          </a:prstGeom>
          <a:solidFill>
            <a:srgbClr val="3BAFDA"/>
          </a:solidFill>
          <a:ln/>
        </p:spPr>
      </p:sp>
      <p:sp>
        <p:nvSpPr>
          <p:cNvPr id="34" name="Shape 32"/>
          <p:cNvSpPr/>
          <p:nvPr/>
        </p:nvSpPr>
        <p:spPr>
          <a:xfrm>
            <a:off x="5074920" y="3566160"/>
            <a:ext cx="475488" cy="475488"/>
          </a:xfrm>
          <a:prstGeom prst="ellipse">
            <a:avLst/>
          </a:prstGeom>
          <a:solidFill>
            <a:srgbClr val="3BAFDA"/>
          </a:solidFill>
          <a:ln/>
        </p:spPr>
      </p:sp>
      <p:sp>
        <p:nvSpPr>
          <p:cNvPr id="35" name="Text 33"/>
          <p:cNvSpPr/>
          <p:nvPr/>
        </p:nvSpPr>
        <p:spPr>
          <a:xfrm>
            <a:off x="5074920" y="3566160"/>
            <a:ext cx="47548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742432" y="3511296"/>
            <a:ext cx="26060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</a:t>
            </a:r>
            <a:endParaRPr lang="en-US" sz="1340" dirty="0"/>
          </a:p>
        </p:txBody>
      </p:sp>
      <p:sp>
        <p:nvSpPr>
          <p:cNvPr id="37" name="Text 35"/>
          <p:cNvSpPr/>
          <p:nvPr/>
        </p:nvSpPr>
        <p:spPr>
          <a:xfrm>
            <a:off x="5742432" y="3858768"/>
            <a:ext cx="2560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动物档案时间线 + 领养审核闭环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4800600" y="4498848"/>
            <a:ext cx="3886200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0600" y="4498848"/>
            <a:ext cx="73152" cy="896112"/>
          </a:xfrm>
          <a:prstGeom prst="rect">
            <a:avLst>
              <a:gd name="adj" fmla="val 125000"/>
            </a:avLst>
          </a:prstGeom>
          <a:solidFill>
            <a:srgbClr val="F08A5D"/>
          </a:solidFill>
          <a:ln/>
        </p:spPr>
      </p:sp>
      <p:sp>
        <p:nvSpPr>
          <p:cNvPr id="40" name="Shape 38"/>
          <p:cNvSpPr/>
          <p:nvPr/>
        </p:nvSpPr>
        <p:spPr>
          <a:xfrm>
            <a:off x="5074920" y="4681728"/>
            <a:ext cx="475488" cy="475488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41" name="Text 39"/>
          <p:cNvSpPr/>
          <p:nvPr/>
        </p:nvSpPr>
        <p:spPr>
          <a:xfrm>
            <a:off x="5074920" y="4681728"/>
            <a:ext cx="475488" cy="475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742432" y="4626864"/>
            <a:ext cx="26060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4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可运营</a:t>
            </a:r>
            <a:endParaRPr lang="en-US" sz="1340" dirty="0"/>
          </a:p>
        </p:txBody>
      </p:sp>
      <p:sp>
        <p:nvSpPr>
          <p:cNvPr id="43" name="Text 41"/>
          <p:cNvSpPr/>
          <p:nvPr/>
        </p:nvSpPr>
        <p:spPr>
          <a:xfrm>
            <a:off x="5742432" y="4974336"/>
            <a:ext cx="2560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数据看板沉淀待办、趋势与成效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9098280" y="1874520"/>
            <a:ext cx="2615184" cy="3456432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pic>
        <p:nvPicPr>
          <p:cNvPr id="45" name="Image 0" descr="E:/Wwangyesheji/docs/ppt_assets/stock/warm_pet_pexel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0" y="2011680"/>
            <a:ext cx="2331720" cy="2926080"/>
          </a:xfrm>
          <a:prstGeom prst="rect">
            <a:avLst/>
          </a:prstGeom>
        </p:spPr>
      </p:pic>
      <p:sp>
        <p:nvSpPr>
          <p:cNvPr id="46" name="Shape 43"/>
          <p:cNvSpPr/>
          <p:nvPr/>
        </p:nvSpPr>
        <p:spPr>
          <a:xfrm>
            <a:off x="9235440" y="4590288"/>
            <a:ext cx="2331720" cy="347472"/>
          </a:xfrm>
          <a:prstGeom prst="rect">
            <a:avLst/>
          </a:prstGeom>
          <a:solidFill>
            <a:srgbClr val="173B35">
              <a:alpha val="82000"/>
            </a:srgbClr>
          </a:solidFill>
          <a:ln/>
        </p:spPr>
      </p:sp>
      <p:sp>
        <p:nvSpPr>
          <p:cNvPr id="47" name="Text 44"/>
          <p:cNvSpPr/>
          <p:nvPr/>
        </p:nvSpPr>
        <p:spPr>
          <a:xfrm>
            <a:off x="9372600" y="4645152"/>
            <a:ext cx="205740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真实关怀场景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4800600" y="5760720"/>
            <a:ext cx="6812280" cy="438912"/>
          </a:xfrm>
          <a:prstGeom prst="roundRect">
            <a:avLst>
              <a:gd name="adj" fmla="val 16667"/>
            </a:avLst>
          </a:prstGeom>
          <a:solidFill>
            <a:srgbClr val="EAF5F3"/>
          </a:solidFill>
          <a:ln/>
        </p:spPr>
      </p:sp>
      <p:sp>
        <p:nvSpPr>
          <p:cNvPr id="49" name="Text 46"/>
          <p:cNvSpPr/>
          <p:nvPr/>
        </p:nvSpPr>
        <p:spPr>
          <a:xfrm>
            <a:off x="4800600" y="5760720"/>
            <a:ext cx="68122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67E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答辩主线：真实业务问题 → 工程化系统设计 → 可运行可交付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-640080" y="6263640"/>
            <a:ext cx="4572000" cy="594360"/>
          </a:xfrm>
          <a:prstGeom prst="rect">
            <a:avLst/>
          </a:prstGeom>
          <a:solidFill>
            <a:srgbClr val="E8F5FB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480000">
            <a:off x="8732520" y="201168"/>
            <a:ext cx="4114800" cy="502920"/>
          </a:xfrm>
          <a:prstGeom prst="rect">
            <a:avLst/>
          </a:prstGeom>
          <a:solidFill>
            <a:srgbClr val="EFEDFF">
              <a:alpha val="9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300000">
            <a:off x="9464040" y="5522976"/>
            <a:ext cx="2651760" cy="384048"/>
          </a:xfrm>
          <a:prstGeom prst="rect">
            <a:avLst/>
          </a:prstGeom>
          <a:solidFill>
            <a:srgbClr val="FFF4D8">
              <a:alpha val="9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66928"/>
            <a:ext cx="73152" cy="603504"/>
          </a:xfrm>
          <a:prstGeom prst="rect">
            <a:avLst/>
          </a:prstGeom>
          <a:solidFill>
            <a:srgbClr val="2F9E87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spc="100" kern="0" dirty="0">
                <a:solidFill>
                  <a:srgbClr val="2F9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需求分析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8096" y="822960"/>
            <a:ext cx="1078992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三类用户 · 三条使用旅程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1591056"/>
            <a:ext cx="11091672" cy="18288"/>
          </a:xfrm>
          <a:prstGeom prst="rect">
            <a:avLst/>
          </a:prstGeom>
          <a:solidFill>
            <a:srgbClr val="E3EAE6"/>
          </a:solidFill>
          <a:ln/>
        </p:spPr>
      </p:sp>
      <p:sp>
        <p:nvSpPr>
          <p:cNvPr id="9" name="Text 7"/>
          <p:cNvSpPr/>
          <p:nvPr/>
        </p:nvSpPr>
        <p:spPr>
          <a:xfrm>
            <a:off x="10637215" y="6400800"/>
            <a:ext cx="1188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8096" y="1389888"/>
            <a:ext cx="9601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不是简单堆功能，而是围绕不同角色的真实任务设计入口、权限和反馈。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1901952"/>
            <a:ext cx="3547872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1901952"/>
            <a:ext cx="3547872" cy="182880"/>
          </a:xfrm>
          <a:prstGeom prst="rect">
            <a:avLst>
              <a:gd name="adj" fmla="val 50000"/>
            </a:avLst>
          </a:prstGeom>
          <a:solidFill>
            <a:srgbClr val="3BAFDA"/>
          </a:solidFill>
          <a:ln/>
        </p:spPr>
      </p:sp>
      <p:sp>
        <p:nvSpPr>
          <p:cNvPr id="13" name="Shape 11"/>
          <p:cNvSpPr/>
          <p:nvPr/>
        </p:nvSpPr>
        <p:spPr>
          <a:xfrm>
            <a:off x="859536" y="2212848"/>
            <a:ext cx="658368" cy="658368"/>
          </a:xfrm>
          <a:prstGeom prst="ellipse">
            <a:avLst/>
          </a:prstGeom>
          <a:solidFill>
            <a:srgbClr val="3BAFDA"/>
          </a:solidFill>
          <a:ln/>
        </p:spPr>
      </p:sp>
      <p:sp>
        <p:nvSpPr>
          <p:cNvPr id="14" name="Text 12"/>
          <p:cNvSpPr/>
          <p:nvPr/>
        </p:nvSpPr>
        <p:spPr>
          <a:xfrm>
            <a:off x="859536" y="2212848"/>
            <a:ext cx="658368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45920" y="2121408"/>
            <a:ext cx="18288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游客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45920" y="2542032"/>
            <a:ext cx="2011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BAF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发现与求助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7824" y="2999232"/>
            <a:ext cx="2926080" cy="12802"/>
          </a:xfrm>
          <a:prstGeom prst="rect">
            <a:avLst/>
          </a:prstGeom>
          <a:solidFill>
            <a:srgbClr val="E3EAE6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3182112"/>
            <a:ext cx="10972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6112" y="3529584"/>
            <a:ext cx="2816352" cy="438912"/>
          </a:xfrm>
          <a:prstGeom prst="roundRect">
            <a:avLst>
              <a:gd name="adj" fmla="val 16667"/>
            </a:avLst>
          </a:prstGeom>
          <a:solidFill>
            <a:srgbClr val="E8F5F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78992" y="3685032"/>
            <a:ext cx="128016" cy="128016"/>
          </a:xfrm>
          <a:prstGeom prst="ellipse">
            <a:avLst/>
          </a:prstGeom>
          <a:solidFill>
            <a:srgbClr val="3BAFDA"/>
          </a:solidFill>
          <a:ln/>
        </p:spPr>
      </p:sp>
      <p:sp>
        <p:nvSpPr>
          <p:cNvPr id="21" name="Text 19"/>
          <p:cNvSpPr/>
          <p:nvPr/>
        </p:nvSpPr>
        <p:spPr>
          <a:xfrm>
            <a:off x="1289304" y="3529584"/>
            <a:ext cx="231343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看动物 / 读文章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6112" y="4096512"/>
            <a:ext cx="2816352" cy="438912"/>
          </a:xfrm>
          <a:prstGeom prst="roundRect">
            <a:avLst>
              <a:gd name="adj" fmla="val 16667"/>
            </a:avLst>
          </a:prstGeom>
          <a:solidFill>
            <a:srgbClr val="E8F5FB"/>
          </a:solidFill>
          <a:ln/>
        </p:spPr>
      </p:sp>
      <p:sp>
        <p:nvSpPr>
          <p:cNvPr id="23" name="Shape 21"/>
          <p:cNvSpPr/>
          <p:nvPr/>
        </p:nvSpPr>
        <p:spPr>
          <a:xfrm>
            <a:off x="1078992" y="4251960"/>
            <a:ext cx="128016" cy="128016"/>
          </a:xfrm>
          <a:prstGeom prst="ellipse">
            <a:avLst/>
          </a:prstGeom>
          <a:solidFill>
            <a:srgbClr val="3BAFDA"/>
          </a:solidFill>
          <a:ln/>
        </p:spPr>
      </p:sp>
      <p:sp>
        <p:nvSpPr>
          <p:cNvPr id="24" name="Text 22"/>
          <p:cNvSpPr/>
          <p:nvPr/>
        </p:nvSpPr>
        <p:spPr>
          <a:xfrm>
            <a:off x="1289304" y="4096512"/>
            <a:ext cx="231343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匿名提交救助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4663440"/>
            <a:ext cx="27889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无需注册也能上报现场情况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4361688" y="1901952"/>
            <a:ext cx="3547872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61688" y="1901952"/>
            <a:ext cx="3547872" cy="182880"/>
          </a:xfrm>
          <a:prstGeom prst="rect">
            <a:avLst>
              <a:gd name="adj" fmla="val 50000"/>
            </a:avLst>
          </a:prstGeom>
          <a:solidFill>
            <a:srgbClr val="2F9E87"/>
          </a:solidFill>
          <a:ln/>
        </p:spPr>
      </p:sp>
      <p:sp>
        <p:nvSpPr>
          <p:cNvPr id="28" name="Shape 26"/>
          <p:cNvSpPr/>
          <p:nvPr/>
        </p:nvSpPr>
        <p:spPr>
          <a:xfrm>
            <a:off x="4654296" y="2212848"/>
            <a:ext cx="658368" cy="658368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29" name="Text 27"/>
          <p:cNvSpPr/>
          <p:nvPr/>
        </p:nvSpPr>
        <p:spPr>
          <a:xfrm>
            <a:off x="4654296" y="2212848"/>
            <a:ext cx="658368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40680" y="2121408"/>
            <a:ext cx="18288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注册用户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440680" y="2542032"/>
            <a:ext cx="2011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F9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领养与跟踪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72584" y="2999232"/>
            <a:ext cx="2926080" cy="12802"/>
          </a:xfrm>
          <a:prstGeom prst="rect">
            <a:avLst/>
          </a:prstGeom>
          <a:solidFill>
            <a:srgbClr val="E3EAE6"/>
          </a:solidFill>
          <a:ln/>
        </p:spPr>
      </p:sp>
      <p:sp>
        <p:nvSpPr>
          <p:cNvPr id="33" name="Text 31"/>
          <p:cNvSpPr/>
          <p:nvPr/>
        </p:nvSpPr>
        <p:spPr>
          <a:xfrm>
            <a:off x="4690872" y="3182112"/>
            <a:ext cx="10972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90872" y="3529584"/>
            <a:ext cx="2816352" cy="438912"/>
          </a:xfrm>
          <a:prstGeom prst="roundRect">
            <a:avLst>
              <a:gd name="adj" fmla="val 16667"/>
            </a:avLst>
          </a:prstGeom>
          <a:solidFill>
            <a:srgbClr val="E9F8F2"/>
          </a:solidFill>
          <a:ln/>
        </p:spPr>
      </p:sp>
      <p:sp>
        <p:nvSpPr>
          <p:cNvPr id="35" name="Shape 33"/>
          <p:cNvSpPr/>
          <p:nvPr/>
        </p:nvSpPr>
        <p:spPr>
          <a:xfrm>
            <a:off x="4873752" y="3685032"/>
            <a:ext cx="128016" cy="128016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36" name="Text 34"/>
          <p:cNvSpPr/>
          <p:nvPr/>
        </p:nvSpPr>
        <p:spPr>
          <a:xfrm>
            <a:off x="5084064" y="3529584"/>
            <a:ext cx="231343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匹配测评 / 申请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90872" y="4096512"/>
            <a:ext cx="2816352" cy="438912"/>
          </a:xfrm>
          <a:prstGeom prst="roundRect">
            <a:avLst>
              <a:gd name="adj" fmla="val 16667"/>
            </a:avLst>
          </a:prstGeom>
          <a:solidFill>
            <a:srgbClr val="E9F8F2"/>
          </a:solidFill>
          <a:ln/>
        </p:spPr>
      </p:sp>
      <p:sp>
        <p:nvSpPr>
          <p:cNvPr id="38" name="Shape 36"/>
          <p:cNvSpPr/>
          <p:nvPr/>
        </p:nvSpPr>
        <p:spPr>
          <a:xfrm>
            <a:off x="4873752" y="4251960"/>
            <a:ext cx="128016" cy="128016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39" name="Text 37"/>
          <p:cNvSpPr/>
          <p:nvPr/>
        </p:nvSpPr>
        <p:spPr>
          <a:xfrm>
            <a:off x="5084064" y="4096512"/>
            <a:ext cx="231343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查看进度 / 证书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09160" y="4663440"/>
            <a:ext cx="27889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围绕领养形成个人闭环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8156448" y="1901952"/>
            <a:ext cx="3547872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156448" y="1901952"/>
            <a:ext cx="3547872" cy="182880"/>
          </a:xfrm>
          <a:prstGeom prst="rect">
            <a:avLst>
              <a:gd name="adj" fmla="val 50000"/>
            </a:avLst>
          </a:prstGeom>
          <a:solidFill>
            <a:srgbClr val="F08A5D"/>
          </a:solidFill>
          <a:ln/>
        </p:spPr>
      </p:sp>
      <p:sp>
        <p:nvSpPr>
          <p:cNvPr id="43" name="Shape 41"/>
          <p:cNvSpPr/>
          <p:nvPr/>
        </p:nvSpPr>
        <p:spPr>
          <a:xfrm>
            <a:off x="8449056" y="2212848"/>
            <a:ext cx="658368" cy="658368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44" name="Text 42"/>
          <p:cNvSpPr/>
          <p:nvPr/>
        </p:nvSpPr>
        <p:spPr>
          <a:xfrm>
            <a:off x="8449056" y="2212848"/>
            <a:ext cx="658368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9235440" y="2121408"/>
            <a:ext cx="18288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9235440" y="2542032"/>
            <a:ext cx="20116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08A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审核与运营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467344" y="2999232"/>
            <a:ext cx="2926080" cy="12802"/>
          </a:xfrm>
          <a:prstGeom prst="rect">
            <a:avLst/>
          </a:prstGeom>
          <a:solidFill>
            <a:srgbClr val="E3EAE6"/>
          </a:solidFill>
          <a:ln/>
        </p:spPr>
      </p:sp>
      <p:sp>
        <p:nvSpPr>
          <p:cNvPr id="48" name="Text 46"/>
          <p:cNvSpPr/>
          <p:nvPr/>
        </p:nvSpPr>
        <p:spPr>
          <a:xfrm>
            <a:off x="8485632" y="3182112"/>
            <a:ext cx="10972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核心任务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485632" y="3529584"/>
            <a:ext cx="2816352" cy="438912"/>
          </a:xfrm>
          <a:prstGeom prst="roundRect">
            <a:avLst>
              <a:gd name="adj" fmla="val 16667"/>
            </a:avLst>
          </a:prstGeom>
          <a:solidFill>
            <a:srgbClr val="FBE7DC"/>
          </a:solidFill>
          <a:ln/>
        </p:spPr>
      </p:sp>
      <p:sp>
        <p:nvSpPr>
          <p:cNvPr id="50" name="Shape 48"/>
          <p:cNvSpPr/>
          <p:nvPr/>
        </p:nvSpPr>
        <p:spPr>
          <a:xfrm>
            <a:off x="8668512" y="3685032"/>
            <a:ext cx="128016" cy="128016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51" name="Text 49"/>
          <p:cNvSpPr/>
          <p:nvPr/>
        </p:nvSpPr>
        <p:spPr>
          <a:xfrm>
            <a:off x="8878824" y="3529584"/>
            <a:ext cx="231343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审核领养 / 处理救助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485632" y="4096512"/>
            <a:ext cx="2816352" cy="438912"/>
          </a:xfrm>
          <a:prstGeom prst="roundRect">
            <a:avLst>
              <a:gd name="adj" fmla="val 16667"/>
            </a:avLst>
          </a:prstGeom>
          <a:solidFill>
            <a:srgbClr val="FBE7DC"/>
          </a:solidFill>
          <a:ln/>
        </p:spPr>
      </p:sp>
      <p:sp>
        <p:nvSpPr>
          <p:cNvPr id="53" name="Shape 51"/>
          <p:cNvSpPr/>
          <p:nvPr/>
        </p:nvSpPr>
        <p:spPr>
          <a:xfrm>
            <a:off x="8668512" y="4251960"/>
            <a:ext cx="128016" cy="128016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54" name="Text 52"/>
          <p:cNvSpPr/>
          <p:nvPr/>
        </p:nvSpPr>
        <p:spPr>
          <a:xfrm>
            <a:off x="8878824" y="4096512"/>
            <a:ext cx="2313432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维护档案 / 看板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503920" y="4663440"/>
            <a:ext cx="278892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用待办和数据驱动日常管理</a:t>
            </a:r>
            <a:endParaRPr lang="en-US" sz="960" dirty="0"/>
          </a:p>
        </p:txBody>
      </p:sp>
      <p:sp>
        <p:nvSpPr>
          <p:cNvPr id="56" name="Shape 54"/>
          <p:cNvSpPr/>
          <p:nvPr/>
        </p:nvSpPr>
        <p:spPr>
          <a:xfrm>
            <a:off x="566928" y="5486400"/>
            <a:ext cx="11064240" cy="713232"/>
          </a:xfrm>
          <a:prstGeom prst="roundRect">
            <a:avLst>
              <a:gd name="adj" fmla="val 15385"/>
            </a:avLst>
          </a:prstGeom>
          <a:solidFill>
            <a:srgbClr val="173B35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5650992"/>
            <a:ext cx="11430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CBA9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权限设计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2057400" y="5650992"/>
            <a:ext cx="24688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optionalAuth 游客可求助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663440" y="5650992"/>
            <a:ext cx="29718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authenticate 用户可申请与查看进度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7882128" y="5650992"/>
            <a:ext cx="31546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requireAdmin 管理端审核与运营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-640080" y="6263640"/>
            <a:ext cx="4572000" cy="594360"/>
          </a:xfrm>
          <a:prstGeom prst="rect">
            <a:avLst/>
          </a:prstGeom>
          <a:solidFill>
            <a:srgbClr val="E9F8F2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480000">
            <a:off x="8732520" y="201168"/>
            <a:ext cx="4114800" cy="502920"/>
          </a:xfrm>
          <a:prstGeom prst="rect">
            <a:avLst/>
          </a:prstGeom>
          <a:solidFill>
            <a:srgbClr val="E8F5FB">
              <a:alpha val="9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300000">
            <a:off x="9464040" y="5522976"/>
            <a:ext cx="2651760" cy="384048"/>
          </a:xfrm>
          <a:prstGeom prst="rect">
            <a:avLst/>
          </a:prstGeom>
          <a:solidFill>
            <a:srgbClr val="FFF4D8">
              <a:alpha val="9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66928"/>
            <a:ext cx="73152" cy="603504"/>
          </a:xfrm>
          <a:prstGeom prst="rect">
            <a:avLst/>
          </a:prstGeom>
          <a:solidFill>
            <a:srgbClr val="2F9E87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spc="100" kern="0" dirty="0">
                <a:solidFill>
                  <a:srgbClr val="2F9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系统总体设计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8096" y="822960"/>
            <a:ext cx="1078992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前后端分离 · 分层架构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1591056"/>
            <a:ext cx="11091672" cy="18288"/>
          </a:xfrm>
          <a:prstGeom prst="rect">
            <a:avLst/>
          </a:prstGeom>
          <a:solidFill>
            <a:srgbClr val="E3EAE6"/>
          </a:solidFill>
          <a:ln/>
        </p:spPr>
      </p:sp>
      <p:sp>
        <p:nvSpPr>
          <p:cNvPr id="9" name="Text 7"/>
          <p:cNvSpPr/>
          <p:nvPr/>
        </p:nvSpPr>
        <p:spPr>
          <a:xfrm>
            <a:off x="10637215" y="6400800"/>
            <a:ext cx="1188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1783080"/>
            <a:ext cx="6400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F9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分层架构（自顶向下数据流）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240280"/>
            <a:ext cx="6446520" cy="676656"/>
          </a:xfrm>
          <a:prstGeom prst="roundRect">
            <a:avLst>
              <a:gd name="adj" fmla="val 10811"/>
            </a:avLst>
          </a:prstGeom>
          <a:solidFill>
            <a:srgbClr val="CBA96A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331720"/>
            <a:ext cx="603504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/ 浏览器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41248" y="2624328"/>
            <a:ext cx="60350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访问前台与后台页面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2916936"/>
            <a:ext cx="4572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DB5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099816"/>
            <a:ext cx="6446520" cy="676656"/>
          </a:xfrm>
          <a:prstGeom prst="roundRect">
            <a:avLst>
              <a:gd name="adj" fmla="val 10811"/>
            </a:avLst>
          </a:prstGeom>
          <a:solidFill>
            <a:srgbClr val="2F9E87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191256"/>
            <a:ext cx="603504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表现层 · Vue 3 SPA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41248" y="3483864"/>
            <a:ext cx="60350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Router 守卫 · Pinia · Axios 拦截器 · 组件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3776472"/>
            <a:ext cx="4572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DB5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959352"/>
            <a:ext cx="6446520" cy="676656"/>
          </a:xfrm>
          <a:prstGeom prst="roundRect">
            <a:avLst>
              <a:gd name="adj" fmla="val 10811"/>
            </a:avLst>
          </a:prstGeom>
          <a:solidFill>
            <a:srgbClr val="267E6C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4050792"/>
            <a:ext cx="603504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接口层 · Express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1248" y="4343400"/>
            <a:ext cx="60350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RESTful 路由 + CORS 白名单 + JWT 三级权限中间件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66160" y="4636008"/>
            <a:ext cx="4572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DB5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4818888"/>
            <a:ext cx="6446520" cy="676656"/>
          </a:xfrm>
          <a:prstGeom prst="roundRect">
            <a:avLst>
              <a:gd name="adj" fmla="val 10811"/>
            </a:avLst>
          </a:prstGeom>
          <a:solidFill>
            <a:srgbClr val="2F9E87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" y="4910328"/>
            <a:ext cx="603504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 / 数据访问层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41248" y="5202936"/>
            <a:ext cx="60350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控制器 + 10 模型（mysql2 参数化查询）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66160" y="5495544"/>
            <a:ext cx="457200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DB5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5678424"/>
            <a:ext cx="6446520" cy="676656"/>
          </a:xfrm>
          <a:prstGeom prst="roundRect">
            <a:avLst>
              <a:gd name="adj" fmla="val 10811"/>
            </a:avLst>
          </a:prstGeom>
          <a:solidFill>
            <a:srgbClr val="173B35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" y="5769864"/>
            <a:ext cx="603504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 · MySQL 8.0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41248" y="6062472"/>
            <a:ext cx="60350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张表 · utf8mb4 · InnoDB 外键约束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6928" y="6556248"/>
            <a:ext cx="64922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单端口同源：构建后由后端托管前端 dist，/api 与 /uploads 同源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0" y="1783080"/>
            <a:ext cx="12802" cy="4480560"/>
          </a:xfrm>
          <a:prstGeom prst="rect">
            <a:avLst/>
          </a:prstGeom>
          <a:solidFill>
            <a:srgbClr val="E3EAE6"/>
          </a:solidFill>
          <a:ln/>
        </p:spPr>
      </p:sp>
      <p:sp>
        <p:nvSpPr>
          <p:cNvPr id="32" name="Text 30"/>
          <p:cNvSpPr/>
          <p:nvPr/>
        </p:nvSpPr>
        <p:spPr>
          <a:xfrm>
            <a:off x="758952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F9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589520" y="2286000"/>
            <a:ext cx="4069080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589520" y="2286000"/>
            <a:ext cx="73152" cy="1225296"/>
          </a:xfrm>
          <a:prstGeom prst="rect">
            <a:avLst/>
          </a:prstGeom>
          <a:solidFill>
            <a:srgbClr val="F08A5D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0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818120" y="2743200"/>
            <a:ext cx="37490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7E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· Vite · Element Plus</a:t>
            </a:r>
            <a:endParaRPr lang="en-US" sz="10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7E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Pinia · Vue Router · Axios</a:t>
            </a:r>
            <a:endParaRPr lang="en-US" sz="10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7E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 · qrcode · DOMPurify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589520" y="3657600"/>
            <a:ext cx="4069080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589520" y="3657600"/>
            <a:ext cx="73152" cy="1225296"/>
          </a:xfrm>
          <a:prstGeom prst="rect">
            <a:avLst/>
          </a:prstGeom>
          <a:solidFill>
            <a:srgbClr val="F08A5D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0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818120" y="4114800"/>
            <a:ext cx="37490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7E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 · Express</a:t>
            </a:r>
            <a:endParaRPr lang="en-US" sz="10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7E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MySQL2 · JWT · bcryptjs</a:t>
            </a:r>
            <a:endParaRPr lang="en-US" sz="10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7E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multer · express-validator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589520" y="5029200"/>
            <a:ext cx="4069080" cy="1225296"/>
          </a:xfrm>
          <a:prstGeom prst="roundRect">
            <a:avLst>
              <a:gd name="adj" fmla="val 74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589520" y="5029200"/>
            <a:ext cx="73152" cy="1225296"/>
          </a:xfrm>
          <a:prstGeom prst="rect">
            <a:avLst/>
          </a:prstGeom>
          <a:solidFill>
            <a:srgbClr val="F08A5D"/>
          </a:solidFill>
          <a:ln/>
        </p:spPr>
      </p:sp>
      <p:sp>
        <p:nvSpPr>
          <p:cNvPr id="43" name="Text 41"/>
          <p:cNvSpPr/>
          <p:nvPr/>
        </p:nvSpPr>
        <p:spPr>
          <a:xfrm>
            <a:off x="7772400" y="5138928"/>
            <a:ext cx="3657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818120" y="5486400"/>
            <a:ext cx="37490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7E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 · utf8mb4</a:t>
            </a:r>
            <a:endParaRPr lang="en-US" sz="10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267E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张表 · 外键约束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-640080" y="6263640"/>
            <a:ext cx="4572000" cy="594360"/>
          </a:xfrm>
          <a:prstGeom prst="rect">
            <a:avLst/>
          </a:prstGeom>
          <a:solidFill>
            <a:srgbClr val="EFEDFF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480000">
            <a:off x="8732520" y="201168"/>
            <a:ext cx="4114800" cy="502920"/>
          </a:xfrm>
          <a:prstGeom prst="rect">
            <a:avLst/>
          </a:prstGeom>
          <a:solidFill>
            <a:srgbClr val="E9F8F2">
              <a:alpha val="9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300000">
            <a:off x="9464040" y="5522976"/>
            <a:ext cx="2651760" cy="384048"/>
          </a:xfrm>
          <a:prstGeom prst="rect">
            <a:avLst/>
          </a:prstGeom>
          <a:solidFill>
            <a:srgbClr val="FFF4D8">
              <a:alpha val="9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66928"/>
            <a:ext cx="73152" cy="603504"/>
          </a:xfrm>
          <a:prstGeom prst="rect">
            <a:avLst/>
          </a:prstGeom>
          <a:solidFill>
            <a:srgbClr val="2F9E87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spc="100" kern="0" dirty="0">
                <a:solidFill>
                  <a:srgbClr val="2F9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数据库设计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8096" y="822960"/>
            <a:ext cx="1078992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张表 · 核心关系与状态机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1591056"/>
            <a:ext cx="11091672" cy="18288"/>
          </a:xfrm>
          <a:prstGeom prst="rect">
            <a:avLst/>
          </a:prstGeom>
          <a:solidFill>
            <a:srgbClr val="E3EAE6"/>
          </a:solidFill>
          <a:ln/>
        </p:spPr>
      </p:sp>
      <p:sp>
        <p:nvSpPr>
          <p:cNvPr id="9" name="Text 7"/>
          <p:cNvSpPr/>
          <p:nvPr/>
        </p:nvSpPr>
        <p:spPr>
          <a:xfrm>
            <a:off x="10637215" y="6400800"/>
            <a:ext cx="1188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1737360"/>
            <a:ext cx="54864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F9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核心实体关系（ER）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331720" y="29718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2F9E87"/>
          </a:solidFill>
          <a:ln/>
        </p:spPr>
      </p:sp>
      <p:sp>
        <p:nvSpPr>
          <p:cNvPr id="12" name="Text 10"/>
          <p:cNvSpPr/>
          <p:nvPr/>
        </p:nvSpPr>
        <p:spPr>
          <a:xfrm>
            <a:off x="2331720" y="2971800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animals 动物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1965960"/>
            <a:ext cx="1783080" cy="457200"/>
          </a:xfrm>
          <a:prstGeom prst="roundRect">
            <a:avLst>
              <a:gd name="adj" fmla="val 16000"/>
            </a:avLst>
          </a:prstGeom>
          <a:solidFill>
            <a:srgbClr val="173B35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1965960"/>
            <a:ext cx="1783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 用户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97764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9DB5AD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977640"/>
            <a:ext cx="2011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animal_events 档案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97680" y="196596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267E6C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adoption_applications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97680" y="397764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F08A5D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0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rescue_requests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0" y="470916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9DB5AD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4709160"/>
            <a:ext cx="21945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rescue_logs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132588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9DB5AD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1325880"/>
            <a:ext cx="2011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adoption_followups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331720" y="3200400"/>
            <a:ext cx="0" cy="20117"/>
          </a:xfrm>
          <a:prstGeom prst="rect">
            <a:avLst/>
          </a:prstGeom>
          <a:solidFill>
            <a:srgbClr val="9DB5AD"/>
          </a:solidFill>
          <a:ln/>
        </p:spPr>
      </p:sp>
      <p:sp>
        <p:nvSpPr>
          <p:cNvPr id="26" name="Shape 24"/>
          <p:cNvSpPr/>
          <p:nvPr/>
        </p:nvSpPr>
        <p:spPr>
          <a:xfrm>
            <a:off x="2350008" y="2194560"/>
            <a:ext cx="0" cy="20117"/>
          </a:xfrm>
          <a:prstGeom prst="rect">
            <a:avLst/>
          </a:prstGeom>
          <a:solidFill>
            <a:srgbClr val="9DB5AD"/>
          </a:solidFill>
          <a:ln/>
        </p:spPr>
      </p:sp>
      <p:sp>
        <p:nvSpPr>
          <p:cNvPr id="27" name="Shape 25"/>
          <p:cNvSpPr/>
          <p:nvPr/>
        </p:nvSpPr>
        <p:spPr>
          <a:xfrm>
            <a:off x="2350008" y="3200400"/>
            <a:ext cx="0" cy="20117"/>
          </a:xfrm>
          <a:prstGeom prst="rect">
            <a:avLst/>
          </a:prstGeom>
          <a:solidFill>
            <a:srgbClr val="9DB5AD"/>
          </a:solidFill>
          <a:ln/>
        </p:spPr>
      </p:sp>
      <p:sp>
        <p:nvSpPr>
          <p:cNvPr id="28" name="Shape 26"/>
          <p:cNvSpPr/>
          <p:nvPr/>
        </p:nvSpPr>
        <p:spPr>
          <a:xfrm>
            <a:off x="1463040" y="2423160"/>
            <a:ext cx="20117" cy="777240"/>
          </a:xfrm>
          <a:prstGeom prst="rect">
            <a:avLst/>
          </a:prstGeom>
          <a:solidFill>
            <a:srgbClr val="9DB5AD"/>
          </a:solidFill>
          <a:ln/>
        </p:spPr>
      </p:sp>
      <p:sp>
        <p:nvSpPr>
          <p:cNvPr id="29" name="Shape 27"/>
          <p:cNvSpPr/>
          <p:nvPr/>
        </p:nvSpPr>
        <p:spPr>
          <a:xfrm>
            <a:off x="1463040" y="3200400"/>
            <a:ext cx="868680" cy="20117"/>
          </a:xfrm>
          <a:prstGeom prst="rect">
            <a:avLst/>
          </a:prstGeom>
          <a:solidFill>
            <a:srgbClr val="9DB5AD"/>
          </a:solidFill>
          <a:ln/>
        </p:spPr>
      </p:sp>
      <p:sp>
        <p:nvSpPr>
          <p:cNvPr id="30" name="Text 28"/>
          <p:cNvSpPr/>
          <p:nvPr/>
        </p:nvSpPr>
        <p:spPr>
          <a:xfrm>
            <a:off x="1554480" y="2907792"/>
            <a:ext cx="5486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1:N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069080" y="3108960"/>
            <a:ext cx="228600" cy="20117"/>
          </a:xfrm>
          <a:prstGeom prst="rect">
            <a:avLst/>
          </a:prstGeom>
          <a:solidFill>
            <a:srgbClr val="9DB5AD"/>
          </a:solidFill>
          <a:ln/>
        </p:spPr>
      </p:sp>
      <p:sp>
        <p:nvSpPr>
          <p:cNvPr id="32" name="Shape 30"/>
          <p:cNvSpPr/>
          <p:nvPr/>
        </p:nvSpPr>
        <p:spPr>
          <a:xfrm>
            <a:off x="4297680" y="2423160"/>
            <a:ext cx="20117" cy="713232"/>
          </a:xfrm>
          <a:prstGeom prst="rect">
            <a:avLst/>
          </a:prstGeom>
          <a:solidFill>
            <a:srgbClr val="9DB5AD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0" y="2788920"/>
            <a:ext cx="5486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1:N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212080" y="1783080"/>
            <a:ext cx="20117" cy="182880"/>
          </a:xfrm>
          <a:prstGeom prst="rect">
            <a:avLst/>
          </a:prstGeom>
          <a:solidFill>
            <a:srgbClr val="9DB5AD"/>
          </a:solidFill>
          <a:ln/>
        </p:spPr>
      </p:sp>
      <p:sp>
        <p:nvSpPr>
          <p:cNvPr id="35" name="Text 33"/>
          <p:cNvSpPr/>
          <p:nvPr/>
        </p:nvSpPr>
        <p:spPr>
          <a:xfrm>
            <a:off x="5303520" y="1783080"/>
            <a:ext cx="5486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1:N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1828800" y="3429000"/>
            <a:ext cx="20117" cy="548640"/>
          </a:xfrm>
          <a:prstGeom prst="rect">
            <a:avLst/>
          </a:prstGeom>
          <a:solidFill>
            <a:srgbClr val="9DB5AD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0" y="3977640"/>
            <a:ext cx="502920" cy="20117"/>
          </a:xfrm>
          <a:prstGeom prst="rect">
            <a:avLst/>
          </a:prstGeom>
          <a:solidFill>
            <a:srgbClr val="9DB5AD"/>
          </a:solidFill>
          <a:ln/>
        </p:spPr>
      </p:sp>
      <p:sp>
        <p:nvSpPr>
          <p:cNvPr id="38" name="Text 36"/>
          <p:cNvSpPr/>
          <p:nvPr/>
        </p:nvSpPr>
        <p:spPr>
          <a:xfrm>
            <a:off x="1417320" y="3611880"/>
            <a:ext cx="5486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1:N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486400" y="4434840"/>
            <a:ext cx="20117" cy="274320"/>
          </a:xfrm>
          <a:prstGeom prst="rect">
            <a:avLst/>
          </a:prstGeom>
          <a:solidFill>
            <a:srgbClr val="9DB5AD"/>
          </a:solidFill>
          <a:ln/>
        </p:spPr>
      </p:sp>
      <p:sp>
        <p:nvSpPr>
          <p:cNvPr id="40" name="Text 38"/>
          <p:cNvSpPr/>
          <p:nvPr/>
        </p:nvSpPr>
        <p:spPr>
          <a:xfrm>
            <a:off x="5577840" y="4407408"/>
            <a:ext cx="5486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1:N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66928" y="5440680"/>
            <a:ext cx="64008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外键级联：业务从属表 CASCADE，引用人 SET NULL（保留历史）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086600" y="1737360"/>
            <a:ext cx="12802" cy="3657600"/>
          </a:xfrm>
          <a:prstGeom prst="rect">
            <a:avLst/>
          </a:prstGeom>
          <a:solidFill>
            <a:srgbClr val="E3EAE6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0" y="1737360"/>
            <a:ext cx="45720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2F9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核心状态机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7315200" y="2240280"/>
            <a:ext cx="45720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动物 animals.status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315200" y="2551176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2F9E87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0" y="2551176"/>
            <a:ext cx="10789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rescued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394192" y="2551176"/>
            <a:ext cx="20116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DB5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595360" y="2551176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EAF5F3"/>
          </a:solidFill>
          <a:ln/>
        </p:spPr>
      </p:sp>
      <p:sp>
        <p:nvSpPr>
          <p:cNvPr id="49" name="Text 47"/>
          <p:cNvSpPr/>
          <p:nvPr/>
        </p:nvSpPr>
        <p:spPr>
          <a:xfrm>
            <a:off x="8595360" y="2551176"/>
            <a:ext cx="10789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67E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available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9674352" y="2551176"/>
            <a:ext cx="20116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DB5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875520" y="2551176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EAF5F3"/>
          </a:solidFill>
          <a:ln/>
        </p:spPr>
      </p:sp>
      <p:sp>
        <p:nvSpPr>
          <p:cNvPr id="52" name="Text 50"/>
          <p:cNvSpPr/>
          <p:nvPr/>
        </p:nvSpPr>
        <p:spPr>
          <a:xfrm>
            <a:off x="9875520" y="2551176"/>
            <a:ext cx="10789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67E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adopted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315200" y="3246120"/>
            <a:ext cx="45720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领养 application.status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315200" y="3557016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267E6C"/>
          </a:solidFill>
          <a:ln/>
        </p:spPr>
      </p:sp>
      <p:sp>
        <p:nvSpPr>
          <p:cNvPr id="55" name="Text 53"/>
          <p:cNvSpPr/>
          <p:nvPr/>
        </p:nvSpPr>
        <p:spPr>
          <a:xfrm>
            <a:off x="7315200" y="3557016"/>
            <a:ext cx="10789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pending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394192" y="3557016"/>
            <a:ext cx="20116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DB5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595360" y="3557016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EAF5F3"/>
          </a:solidFill>
          <a:ln/>
        </p:spPr>
      </p:sp>
      <p:sp>
        <p:nvSpPr>
          <p:cNvPr id="58" name="Text 56"/>
          <p:cNvSpPr/>
          <p:nvPr/>
        </p:nvSpPr>
        <p:spPr>
          <a:xfrm>
            <a:off x="8595360" y="3557016"/>
            <a:ext cx="10789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67E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approved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9674352" y="3557016"/>
            <a:ext cx="20116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DB5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9875520" y="3557016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EAF5F3"/>
          </a:solidFill>
          <a:ln/>
        </p:spPr>
      </p:sp>
      <p:sp>
        <p:nvSpPr>
          <p:cNvPr id="61" name="Text 59"/>
          <p:cNvSpPr/>
          <p:nvPr/>
        </p:nvSpPr>
        <p:spPr>
          <a:xfrm>
            <a:off x="9875520" y="3557016"/>
            <a:ext cx="10789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67E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completed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315200" y="4251960"/>
            <a:ext cx="45720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救助 rescue.status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315200" y="4562856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F08A5D"/>
          </a:solidFill>
          <a:ln/>
        </p:spPr>
      </p:sp>
      <p:sp>
        <p:nvSpPr>
          <p:cNvPr id="64" name="Text 62"/>
          <p:cNvSpPr/>
          <p:nvPr/>
        </p:nvSpPr>
        <p:spPr>
          <a:xfrm>
            <a:off x="7315200" y="4562856"/>
            <a:ext cx="10789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pending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8394192" y="4562856"/>
            <a:ext cx="20116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DB5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8595360" y="4562856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EAF5F3"/>
          </a:solidFill>
          <a:ln/>
        </p:spPr>
      </p:sp>
      <p:sp>
        <p:nvSpPr>
          <p:cNvPr id="67" name="Text 65"/>
          <p:cNvSpPr/>
          <p:nvPr/>
        </p:nvSpPr>
        <p:spPr>
          <a:xfrm>
            <a:off x="8595360" y="4562856"/>
            <a:ext cx="10789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67E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processing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9674352" y="4562856"/>
            <a:ext cx="201168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DB5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›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9875520" y="4562856"/>
            <a:ext cx="1078992" cy="384048"/>
          </a:xfrm>
          <a:prstGeom prst="roundRect">
            <a:avLst>
              <a:gd name="adj" fmla="val 19048"/>
            </a:avLst>
          </a:prstGeom>
          <a:solidFill>
            <a:srgbClr val="EAF5F3"/>
          </a:solidFill>
          <a:ln/>
        </p:spPr>
      </p:sp>
      <p:sp>
        <p:nvSpPr>
          <p:cNvPr id="70" name="Text 68"/>
          <p:cNvSpPr/>
          <p:nvPr/>
        </p:nvSpPr>
        <p:spPr>
          <a:xfrm>
            <a:off x="9875520" y="4562856"/>
            <a:ext cx="1078992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67E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resolved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548640" y="5989320"/>
            <a:ext cx="11091672" cy="12802"/>
          </a:xfrm>
          <a:prstGeom prst="rect">
            <a:avLst/>
          </a:prstGeom>
          <a:solidFill>
            <a:srgbClr val="E3EAE6"/>
          </a:solidFill>
          <a:ln/>
        </p:spPr>
      </p:sp>
      <p:sp>
        <p:nvSpPr>
          <p:cNvPr id="72" name="Text 70"/>
          <p:cNvSpPr/>
          <p:nvPr/>
        </p:nvSpPr>
        <p:spPr>
          <a:xfrm>
            <a:off x="566928" y="6053328"/>
            <a:ext cx="4572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张表 · 六大业务域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66928" y="63550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5F3"/>
          </a:solidFill>
          <a:ln/>
        </p:spPr>
      </p:sp>
      <p:sp>
        <p:nvSpPr>
          <p:cNvPr id="74" name="Text 72"/>
          <p:cNvSpPr/>
          <p:nvPr/>
        </p:nvSpPr>
        <p:spPr>
          <a:xfrm>
            <a:off x="566928" y="6355080"/>
            <a:ext cx="15544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67E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用户域 · 1 表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2231136" y="63550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5F3"/>
          </a:solidFill>
          <a:ln/>
        </p:spPr>
      </p:sp>
      <p:sp>
        <p:nvSpPr>
          <p:cNvPr id="76" name="Text 74"/>
          <p:cNvSpPr/>
          <p:nvPr/>
        </p:nvSpPr>
        <p:spPr>
          <a:xfrm>
            <a:off x="2231136" y="6355080"/>
            <a:ext cx="15544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67E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动物域 · 4 表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3895344" y="63550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5F3"/>
          </a:solidFill>
          <a:ln/>
        </p:spPr>
      </p:sp>
      <p:sp>
        <p:nvSpPr>
          <p:cNvPr id="78" name="Text 76"/>
          <p:cNvSpPr/>
          <p:nvPr/>
        </p:nvSpPr>
        <p:spPr>
          <a:xfrm>
            <a:off x="3895344" y="6355080"/>
            <a:ext cx="15544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67E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领养域 · 2 表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5559552" y="63550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5F3"/>
          </a:solidFill>
          <a:ln/>
        </p:spPr>
      </p:sp>
      <p:sp>
        <p:nvSpPr>
          <p:cNvPr id="80" name="Text 78"/>
          <p:cNvSpPr/>
          <p:nvPr/>
        </p:nvSpPr>
        <p:spPr>
          <a:xfrm>
            <a:off x="5559552" y="6355080"/>
            <a:ext cx="15544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67E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救助域 · 2 表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223760" y="63550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5F3"/>
          </a:solidFill>
          <a:ln/>
        </p:spPr>
      </p:sp>
      <p:sp>
        <p:nvSpPr>
          <p:cNvPr id="82" name="Text 80"/>
          <p:cNvSpPr/>
          <p:nvPr/>
        </p:nvSpPr>
        <p:spPr>
          <a:xfrm>
            <a:off x="7223760" y="6355080"/>
            <a:ext cx="15544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67E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内容域 · 3 表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8887968" y="635508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EAF5F3"/>
          </a:solidFill>
          <a:ln/>
        </p:spPr>
      </p:sp>
      <p:sp>
        <p:nvSpPr>
          <p:cNvPr id="84" name="Text 82"/>
          <p:cNvSpPr/>
          <p:nvPr/>
        </p:nvSpPr>
        <p:spPr>
          <a:xfrm>
            <a:off x="8887968" y="6355080"/>
            <a:ext cx="15544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267E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通知域 · 1 表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-640080" y="6263640"/>
            <a:ext cx="4572000" cy="594360"/>
          </a:xfrm>
          <a:prstGeom prst="rect">
            <a:avLst/>
          </a:prstGeom>
          <a:solidFill>
            <a:srgbClr val="E9F8F2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480000">
            <a:off x="8732520" y="201168"/>
            <a:ext cx="4114800" cy="502920"/>
          </a:xfrm>
          <a:prstGeom prst="rect">
            <a:avLst/>
          </a:prstGeom>
          <a:solidFill>
            <a:srgbClr val="E8F5FB">
              <a:alpha val="9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300000">
            <a:off x="9464040" y="5522976"/>
            <a:ext cx="2651760" cy="384048"/>
          </a:xfrm>
          <a:prstGeom prst="rect">
            <a:avLst/>
          </a:prstGeom>
          <a:solidFill>
            <a:srgbClr val="FBE8EF">
              <a:alpha val="9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66928"/>
            <a:ext cx="73152" cy="603504"/>
          </a:xfrm>
          <a:prstGeom prst="rect">
            <a:avLst/>
          </a:prstGeom>
          <a:solidFill>
            <a:srgbClr val="2F9E87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spc="100" kern="0" dirty="0">
                <a:solidFill>
                  <a:srgbClr val="2F9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功能结构总览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8096" y="822960"/>
            <a:ext cx="1078992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模块化设计 · 双端覆盖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1591056"/>
            <a:ext cx="11091672" cy="18288"/>
          </a:xfrm>
          <a:prstGeom prst="rect">
            <a:avLst/>
          </a:prstGeom>
          <a:solidFill>
            <a:srgbClr val="E3EAE6"/>
          </a:solidFill>
          <a:ln/>
        </p:spPr>
      </p:sp>
      <p:sp>
        <p:nvSpPr>
          <p:cNvPr id="9" name="Text 7"/>
          <p:cNvSpPr/>
          <p:nvPr/>
        </p:nvSpPr>
        <p:spPr>
          <a:xfrm>
            <a:off x="10637215" y="6400800"/>
            <a:ext cx="1188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257800" y="178308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173B35"/>
          </a:solidFill>
          <a:ln/>
        </p:spPr>
      </p:sp>
      <p:sp>
        <p:nvSpPr>
          <p:cNvPr id="11" name="Text 9"/>
          <p:cNvSpPr/>
          <p:nvPr/>
        </p:nvSpPr>
        <p:spPr>
          <a:xfrm>
            <a:off x="5257800" y="1783080"/>
            <a:ext cx="16916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救助领养系统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5285232" cy="512064"/>
          </a:xfrm>
          <a:prstGeom prst="roundRect">
            <a:avLst>
              <a:gd name="adj" fmla="val 17857"/>
            </a:avLst>
          </a:prstGeom>
          <a:solidFill>
            <a:srgbClr val="2F9E8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97480"/>
            <a:ext cx="5285232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前台门户（公众端）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254203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611880"/>
            <a:ext cx="146304" cy="146304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3429000"/>
            <a:ext cx="201168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首页门户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27832" y="3429000"/>
            <a:ext cx="254203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29000" y="3611880"/>
            <a:ext cx="146304" cy="146304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19" name="Text 17"/>
          <p:cNvSpPr/>
          <p:nvPr/>
        </p:nvSpPr>
        <p:spPr>
          <a:xfrm>
            <a:off x="3666744" y="3429000"/>
            <a:ext cx="201168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动物浏览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032504"/>
            <a:ext cx="254203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4215384"/>
            <a:ext cx="146304" cy="146304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22" name="Text 20"/>
          <p:cNvSpPr/>
          <p:nvPr/>
        </p:nvSpPr>
        <p:spPr>
          <a:xfrm>
            <a:off x="987552" y="4032504"/>
            <a:ext cx="201168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动物详情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27832" y="4032504"/>
            <a:ext cx="254203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29000" y="4215384"/>
            <a:ext cx="146304" cy="146304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25" name="Text 23"/>
          <p:cNvSpPr/>
          <p:nvPr/>
        </p:nvSpPr>
        <p:spPr>
          <a:xfrm>
            <a:off x="3666744" y="4032504"/>
            <a:ext cx="201168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智能匹配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636008"/>
            <a:ext cx="254203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9808" y="4818888"/>
            <a:ext cx="146304" cy="146304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28" name="Text 26"/>
          <p:cNvSpPr/>
          <p:nvPr/>
        </p:nvSpPr>
        <p:spPr>
          <a:xfrm>
            <a:off x="987552" y="4636008"/>
            <a:ext cx="201168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领养申请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27832" y="4636008"/>
            <a:ext cx="254203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429000" y="4818888"/>
            <a:ext cx="146304" cy="146304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31" name="Text 29"/>
          <p:cNvSpPr/>
          <p:nvPr/>
        </p:nvSpPr>
        <p:spPr>
          <a:xfrm>
            <a:off x="3666744" y="4636008"/>
            <a:ext cx="201168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我的领养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239512"/>
            <a:ext cx="254203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9808" y="5422392"/>
            <a:ext cx="146304" cy="146304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34" name="Text 32"/>
          <p:cNvSpPr/>
          <p:nvPr/>
        </p:nvSpPr>
        <p:spPr>
          <a:xfrm>
            <a:off x="987552" y="5239512"/>
            <a:ext cx="201168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救助求助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27832" y="5239512"/>
            <a:ext cx="254203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429000" y="5422392"/>
            <a:ext cx="146304" cy="146304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37" name="Text 35"/>
          <p:cNvSpPr/>
          <p:nvPr/>
        </p:nvSpPr>
        <p:spPr>
          <a:xfrm>
            <a:off x="3666744" y="5239512"/>
            <a:ext cx="201168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科普文章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5843016"/>
            <a:ext cx="254203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49808" y="6025896"/>
            <a:ext cx="146304" cy="146304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40" name="Text 38"/>
          <p:cNvSpPr/>
          <p:nvPr/>
        </p:nvSpPr>
        <p:spPr>
          <a:xfrm>
            <a:off x="987552" y="5843016"/>
            <a:ext cx="201168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站内通知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27832" y="5843016"/>
            <a:ext cx="254203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429000" y="6025896"/>
            <a:ext cx="146304" cy="146304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43" name="Text 41"/>
          <p:cNvSpPr/>
          <p:nvPr/>
        </p:nvSpPr>
        <p:spPr>
          <a:xfrm>
            <a:off x="3666744" y="5843016"/>
            <a:ext cx="201168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明暗主题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355080" y="2697480"/>
            <a:ext cx="5285232" cy="512064"/>
          </a:xfrm>
          <a:prstGeom prst="roundRect">
            <a:avLst>
              <a:gd name="adj" fmla="val 17857"/>
            </a:avLst>
          </a:prstGeom>
          <a:solidFill>
            <a:srgbClr val="F08A5D"/>
          </a:solidFill>
          <a:ln/>
        </p:spPr>
      </p:sp>
      <p:sp>
        <p:nvSpPr>
          <p:cNvPr id="45" name="Text 43"/>
          <p:cNvSpPr/>
          <p:nvPr/>
        </p:nvSpPr>
        <p:spPr>
          <a:xfrm>
            <a:off x="6355080" y="2697480"/>
            <a:ext cx="5285232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后台管理（管理员端）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355080" y="3429000"/>
            <a:ext cx="254203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556248" y="3611880"/>
            <a:ext cx="146304" cy="146304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48" name="Text 46"/>
          <p:cNvSpPr/>
          <p:nvPr/>
        </p:nvSpPr>
        <p:spPr>
          <a:xfrm>
            <a:off x="6793992" y="3429000"/>
            <a:ext cx="201168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数据看板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034272" y="3429000"/>
            <a:ext cx="254203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235440" y="3611880"/>
            <a:ext cx="146304" cy="146304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51" name="Text 49"/>
          <p:cNvSpPr/>
          <p:nvPr/>
        </p:nvSpPr>
        <p:spPr>
          <a:xfrm>
            <a:off x="9473184" y="3429000"/>
            <a:ext cx="201168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动物管理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355080" y="4032504"/>
            <a:ext cx="254203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556248" y="4215384"/>
            <a:ext cx="146304" cy="146304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54" name="Text 52"/>
          <p:cNvSpPr/>
          <p:nvPr/>
        </p:nvSpPr>
        <p:spPr>
          <a:xfrm>
            <a:off x="6793992" y="4032504"/>
            <a:ext cx="201168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领养管理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034272" y="4032504"/>
            <a:ext cx="254203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9235440" y="4215384"/>
            <a:ext cx="146304" cy="146304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57" name="Text 55"/>
          <p:cNvSpPr/>
          <p:nvPr/>
        </p:nvSpPr>
        <p:spPr>
          <a:xfrm>
            <a:off x="9473184" y="4032504"/>
            <a:ext cx="201168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救助管理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355080" y="4636008"/>
            <a:ext cx="254203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556248" y="4818888"/>
            <a:ext cx="146304" cy="146304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60" name="Text 58"/>
          <p:cNvSpPr/>
          <p:nvPr/>
        </p:nvSpPr>
        <p:spPr>
          <a:xfrm>
            <a:off x="6793992" y="4636008"/>
            <a:ext cx="201168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用户管理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9034272" y="4636008"/>
            <a:ext cx="254203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9235440" y="4818888"/>
            <a:ext cx="146304" cy="146304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63" name="Text 61"/>
          <p:cNvSpPr/>
          <p:nvPr/>
        </p:nvSpPr>
        <p:spPr>
          <a:xfrm>
            <a:off x="9473184" y="4636008"/>
            <a:ext cx="201168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公告管理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355080" y="5239512"/>
            <a:ext cx="254203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556248" y="5422392"/>
            <a:ext cx="146304" cy="146304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66" name="Text 64"/>
          <p:cNvSpPr/>
          <p:nvPr/>
        </p:nvSpPr>
        <p:spPr>
          <a:xfrm>
            <a:off x="6793992" y="5239512"/>
            <a:ext cx="201168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文章管理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9034272" y="5239512"/>
            <a:ext cx="254203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9235440" y="5422392"/>
            <a:ext cx="146304" cy="146304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69" name="Text 67"/>
          <p:cNvSpPr/>
          <p:nvPr/>
        </p:nvSpPr>
        <p:spPr>
          <a:xfrm>
            <a:off x="9473184" y="5239512"/>
            <a:ext cx="201168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轮播管理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355080" y="5843016"/>
            <a:ext cx="254203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556248" y="6025896"/>
            <a:ext cx="146304" cy="146304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72" name="Text 70"/>
          <p:cNvSpPr/>
          <p:nvPr/>
        </p:nvSpPr>
        <p:spPr>
          <a:xfrm>
            <a:off x="6793992" y="5843016"/>
            <a:ext cx="201168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分类管理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9034272" y="5843016"/>
            <a:ext cx="2542032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9235440" y="6025896"/>
            <a:ext cx="146304" cy="146304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75" name="Text 73"/>
          <p:cNvSpPr/>
          <p:nvPr/>
        </p:nvSpPr>
        <p:spPr>
          <a:xfrm>
            <a:off x="9473184" y="5843016"/>
            <a:ext cx="2011680" cy="493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 导出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6099048" y="2331720"/>
            <a:ext cx="20117" cy="182880"/>
          </a:xfrm>
          <a:prstGeom prst="rect">
            <a:avLst/>
          </a:prstGeom>
          <a:solidFill>
            <a:srgbClr val="9DB5AD"/>
          </a:solidFill>
          <a:ln/>
        </p:spPr>
      </p:sp>
      <p:sp>
        <p:nvSpPr>
          <p:cNvPr id="77" name="Shape 75"/>
          <p:cNvSpPr/>
          <p:nvPr/>
        </p:nvSpPr>
        <p:spPr>
          <a:xfrm>
            <a:off x="3191256" y="2514600"/>
            <a:ext cx="5815584" cy="20117"/>
          </a:xfrm>
          <a:prstGeom prst="rect">
            <a:avLst/>
          </a:prstGeom>
          <a:solidFill>
            <a:srgbClr val="9DB5AD"/>
          </a:solidFill>
          <a:ln/>
        </p:spPr>
      </p:sp>
      <p:sp>
        <p:nvSpPr>
          <p:cNvPr id="78" name="Shape 76"/>
          <p:cNvSpPr/>
          <p:nvPr/>
        </p:nvSpPr>
        <p:spPr>
          <a:xfrm>
            <a:off x="3191256" y="2514600"/>
            <a:ext cx="20117" cy="182880"/>
          </a:xfrm>
          <a:prstGeom prst="rect">
            <a:avLst/>
          </a:prstGeom>
          <a:solidFill>
            <a:srgbClr val="9DB5AD"/>
          </a:solidFill>
          <a:ln/>
        </p:spPr>
      </p:sp>
      <p:sp>
        <p:nvSpPr>
          <p:cNvPr id="79" name="Shape 77"/>
          <p:cNvSpPr/>
          <p:nvPr/>
        </p:nvSpPr>
        <p:spPr>
          <a:xfrm>
            <a:off x="8997696" y="2514600"/>
            <a:ext cx="20117" cy="182880"/>
          </a:xfrm>
          <a:prstGeom prst="rect">
            <a:avLst/>
          </a:prstGeom>
          <a:solidFill>
            <a:srgbClr val="9DB5AD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-640080" y="6263640"/>
            <a:ext cx="4572000" cy="594360"/>
          </a:xfrm>
          <a:prstGeom prst="rect">
            <a:avLst/>
          </a:prstGeom>
          <a:solidFill>
            <a:srgbClr val="E8F5FB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480000">
            <a:off x="8732520" y="201168"/>
            <a:ext cx="4114800" cy="502920"/>
          </a:xfrm>
          <a:prstGeom prst="rect">
            <a:avLst/>
          </a:prstGeom>
          <a:solidFill>
            <a:srgbClr val="E9F8F2">
              <a:alpha val="9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300000">
            <a:off x="9464040" y="5522976"/>
            <a:ext cx="2651760" cy="384048"/>
          </a:xfrm>
          <a:prstGeom prst="rect">
            <a:avLst/>
          </a:prstGeom>
          <a:solidFill>
            <a:srgbClr val="FFF4D8">
              <a:alpha val="9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66928"/>
            <a:ext cx="73152" cy="603504"/>
          </a:xfrm>
          <a:prstGeom prst="rect">
            <a:avLst/>
          </a:prstGeom>
          <a:solidFill>
            <a:srgbClr val="2F9E87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spc="100" kern="0" dirty="0">
                <a:solidFill>
                  <a:srgbClr val="2F9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功能实现 ①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8096" y="822960"/>
            <a:ext cx="1078992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前台用户端：浏览 · 匹配 · 求助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1591056"/>
            <a:ext cx="11091672" cy="18288"/>
          </a:xfrm>
          <a:prstGeom prst="rect">
            <a:avLst/>
          </a:prstGeom>
          <a:solidFill>
            <a:srgbClr val="E3EAE6"/>
          </a:solidFill>
          <a:ln/>
        </p:spPr>
      </p:sp>
      <p:sp>
        <p:nvSpPr>
          <p:cNvPr id="9" name="Text 7"/>
          <p:cNvSpPr/>
          <p:nvPr/>
        </p:nvSpPr>
        <p:spPr>
          <a:xfrm>
            <a:off x="10637215" y="6400800"/>
            <a:ext cx="1188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" y="1737360"/>
            <a:ext cx="5449824" cy="3653028"/>
          </a:xfrm>
          <a:prstGeom prst="roundRect">
            <a:avLst>
              <a:gd name="adj" fmla="val 20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" y="1737360"/>
            <a:ext cx="5449824" cy="274320"/>
          </a:xfrm>
          <a:prstGeom prst="rect">
            <a:avLst/>
          </a:prstGeom>
          <a:solidFill>
            <a:srgbClr val="EAF5F3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1828800"/>
            <a:ext cx="91440" cy="91440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13" name="Shape 11"/>
          <p:cNvSpPr/>
          <p:nvPr/>
        </p:nvSpPr>
        <p:spPr>
          <a:xfrm>
            <a:off x="950976" y="1828800"/>
            <a:ext cx="91440" cy="91440"/>
          </a:xfrm>
          <a:prstGeom prst="ellipse">
            <a:avLst/>
          </a:prstGeom>
          <a:solidFill>
            <a:srgbClr val="CBA96A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" y="1828800"/>
            <a:ext cx="91440" cy="91440"/>
          </a:xfrm>
          <a:prstGeom prst="ellipse">
            <a:avLst/>
          </a:prstGeom>
          <a:solidFill>
            <a:srgbClr val="2F9E87"/>
          </a:solidFill>
          <a:ln/>
        </p:spPr>
      </p:sp>
      <p:pic>
        <p:nvPicPr>
          <p:cNvPr id="15" name="Image 0" descr="E:/Wwangyesheji/docs/ppt_asset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011680"/>
            <a:ext cx="5230368" cy="32689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58368" y="5559552"/>
            <a:ext cx="5449824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首页门户：轮播、推荐动物、救助成果与领养流程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46520" y="1737360"/>
            <a:ext cx="2551176" cy="1841373"/>
          </a:xfrm>
          <a:prstGeom prst="roundRect">
            <a:avLst>
              <a:gd name="adj" fmla="val 39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46520" y="1737360"/>
            <a:ext cx="2551176" cy="274320"/>
          </a:xfrm>
          <a:prstGeom prst="rect">
            <a:avLst/>
          </a:prstGeom>
          <a:solidFill>
            <a:srgbClr val="EAF5F3"/>
          </a:solidFill>
          <a:ln/>
        </p:spPr>
      </p:sp>
      <p:sp>
        <p:nvSpPr>
          <p:cNvPr id="19" name="Shape 16"/>
          <p:cNvSpPr/>
          <p:nvPr/>
        </p:nvSpPr>
        <p:spPr>
          <a:xfrm>
            <a:off x="6592824" y="1828800"/>
            <a:ext cx="91440" cy="91440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20" name="Shape 17"/>
          <p:cNvSpPr/>
          <p:nvPr/>
        </p:nvSpPr>
        <p:spPr>
          <a:xfrm>
            <a:off x="6739128" y="1828800"/>
            <a:ext cx="91440" cy="91440"/>
          </a:xfrm>
          <a:prstGeom prst="ellipse">
            <a:avLst/>
          </a:prstGeom>
          <a:solidFill>
            <a:srgbClr val="CBA96A"/>
          </a:solidFill>
          <a:ln/>
        </p:spPr>
      </p:sp>
      <p:sp>
        <p:nvSpPr>
          <p:cNvPr id="21" name="Shape 18"/>
          <p:cNvSpPr/>
          <p:nvPr/>
        </p:nvSpPr>
        <p:spPr>
          <a:xfrm>
            <a:off x="6885432" y="1828800"/>
            <a:ext cx="91440" cy="91440"/>
          </a:xfrm>
          <a:prstGeom prst="ellipse">
            <a:avLst/>
          </a:prstGeom>
          <a:solidFill>
            <a:srgbClr val="2F9E87"/>
          </a:solidFill>
          <a:ln/>
        </p:spPr>
      </p:sp>
      <p:pic>
        <p:nvPicPr>
          <p:cNvPr id="22" name="Image 1" descr="E:/Wwangyesheji/docs/ppt_assets/anima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2011680"/>
            <a:ext cx="2331720" cy="145732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446520" y="3602736"/>
            <a:ext cx="25511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动物检索</a:t>
            </a:r>
            <a:endParaRPr lang="en-US" sz="920" dirty="0"/>
          </a:p>
        </p:txBody>
      </p:sp>
      <p:sp>
        <p:nvSpPr>
          <p:cNvPr id="24" name="Shape 20"/>
          <p:cNvSpPr/>
          <p:nvPr/>
        </p:nvSpPr>
        <p:spPr>
          <a:xfrm>
            <a:off x="9235440" y="1737360"/>
            <a:ext cx="2551176" cy="1841373"/>
          </a:xfrm>
          <a:prstGeom prst="roundRect">
            <a:avLst>
              <a:gd name="adj" fmla="val 39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9235440" y="1737360"/>
            <a:ext cx="2551176" cy="274320"/>
          </a:xfrm>
          <a:prstGeom prst="rect">
            <a:avLst/>
          </a:prstGeom>
          <a:solidFill>
            <a:srgbClr val="EAF5F3"/>
          </a:solidFill>
          <a:ln/>
        </p:spPr>
      </p:sp>
      <p:sp>
        <p:nvSpPr>
          <p:cNvPr id="26" name="Shape 22"/>
          <p:cNvSpPr/>
          <p:nvPr/>
        </p:nvSpPr>
        <p:spPr>
          <a:xfrm>
            <a:off x="9381744" y="1828800"/>
            <a:ext cx="91440" cy="91440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27" name="Shape 23"/>
          <p:cNvSpPr/>
          <p:nvPr/>
        </p:nvSpPr>
        <p:spPr>
          <a:xfrm>
            <a:off x="9528048" y="1828800"/>
            <a:ext cx="91440" cy="91440"/>
          </a:xfrm>
          <a:prstGeom prst="ellipse">
            <a:avLst/>
          </a:prstGeom>
          <a:solidFill>
            <a:srgbClr val="CBA96A"/>
          </a:solidFill>
          <a:ln/>
        </p:spPr>
      </p:sp>
      <p:sp>
        <p:nvSpPr>
          <p:cNvPr id="28" name="Shape 24"/>
          <p:cNvSpPr/>
          <p:nvPr/>
        </p:nvSpPr>
        <p:spPr>
          <a:xfrm>
            <a:off x="9674352" y="1828800"/>
            <a:ext cx="91440" cy="91440"/>
          </a:xfrm>
          <a:prstGeom prst="ellipse">
            <a:avLst/>
          </a:prstGeom>
          <a:solidFill>
            <a:srgbClr val="2F9E87"/>
          </a:solidFill>
          <a:ln/>
        </p:spPr>
      </p:sp>
      <p:pic>
        <p:nvPicPr>
          <p:cNvPr id="29" name="Image 2" descr="E:/Wwangyesheji/docs/ppt_assets/mat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5168" y="2011680"/>
            <a:ext cx="2331720" cy="145732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235440" y="3602736"/>
            <a:ext cx="25511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规则匹配</a:t>
            </a:r>
            <a:endParaRPr lang="en-US" sz="920" dirty="0"/>
          </a:p>
        </p:txBody>
      </p:sp>
      <p:sp>
        <p:nvSpPr>
          <p:cNvPr id="31" name="Shape 26"/>
          <p:cNvSpPr/>
          <p:nvPr/>
        </p:nvSpPr>
        <p:spPr>
          <a:xfrm>
            <a:off x="6446520" y="3977640"/>
            <a:ext cx="2551176" cy="1841373"/>
          </a:xfrm>
          <a:prstGeom prst="roundRect">
            <a:avLst>
              <a:gd name="adj" fmla="val 39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6446520" y="3977640"/>
            <a:ext cx="2551176" cy="274320"/>
          </a:xfrm>
          <a:prstGeom prst="rect">
            <a:avLst/>
          </a:prstGeom>
          <a:solidFill>
            <a:srgbClr val="EAF5F3"/>
          </a:solidFill>
          <a:ln/>
        </p:spPr>
      </p:sp>
      <p:sp>
        <p:nvSpPr>
          <p:cNvPr id="33" name="Shape 28"/>
          <p:cNvSpPr/>
          <p:nvPr/>
        </p:nvSpPr>
        <p:spPr>
          <a:xfrm>
            <a:off x="6592824" y="4069080"/>
            <a:ext cx="91440" cy="91440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34" name="Shape 29"/>
          <p:cNvSpPr/>
          <p:nvPr/>
        </p:nvSpPr>
        <p:spPr>
          <a:xfrm>
            <a:off x="6739128" y="4069080"/>
            <a:ext cx="91440" cy="91440"/>
          </a:xfrm>
          <a:prstGeom prst="ellipse">
            <a:avLst/>
          </a:prstGeom>
          <a:solidFill>
            <a:srgbClr val="CBA96A"/>
          </a:solidFill>
          <a:ln/>
        </p:spPr>
      </p:sp>
      <p:sp>
        <p:nvSpPr>
          <p:cNvPr id="35" name="Shape 30"/>
          <p:cNvSpPr/>
          <p:nvPr/>
        </p:nvSpPr>
        <p:spPr>
          <a:xfrm>
            <a:off x="6885432" y="4069080"/>
            <a:ext cx="91440" cy="91440"/>
          </a:xfrm>
          <a:prstGeom prst="ellipse">
            <a:avLst/>
          </a:prstGeom>
          <a:solidFill>
            <a:srgbClr val="2F9E87"/>
          </a:solidFill>
          <a:ln/>
        </p:spPr>
      </p:sp>
      <p:pic>
        <p:nvPicPr>
          <p:cNvPr id="36" name="Image 3" descr="E:/Wwangyesheji/docs/ppt_assets/resc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248" y="4251960"/>
            <a:ext cx="2331720" cy="1457325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446520" y="5843016"/>
            <a:ext cx="255117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救助求助</a:t>
            </a:r>
            <a:endParaRPr lang="en-US" sz="920" dirty="0"/>
          </a:p>
        </p:txBody>
      </p:sp>
      <p:sp>
        <p:nvSpPr>
          <p:cNvPr id="38" name="Shape 32"/>
          <p:cNvSpPr/>
          <p:nvPr/>
        </p:nvSpPr>
        <p:spPr>
          <a:xfrm>
            <a:off x="9235440" y="3977640"/>
            <a:ext cx="2551176" cy="1783080"/>
          </a:xfrm>
          <a:prstGeom prst="roundRect">
            <a:avLst>
              <a:gd name="adj" fmla="val 6154"/>
            </a:avLst>
          </a:prstGeom>
          <a:solidFill>
            <a:srgbClr val="173B35"/>
          </a:solidFill>
          <a:ln/>
        </p:spPr>
      </p:sp>
      <p:sp>
        <p:nvSpPr>
          <p:cNvPr id="39" name="Text 33"/>
          <p:cNvSpPr/>
          <p:nvPr/>
        </p:nvSpPr>
        <p:spPr>
          <a:xfrm>
            <a:off x="9464040" y="4224528"/>
            <a:ext cx="2057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前台体验主线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9464040" y="4590288"/>
            <a:ext cx="20574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020" dirty="0">
                <a:solidFill>
                  <a:srgbClr val="CFE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</a:t>
            </a:r>
            <a:endParaRPr lang="en-US" sz="102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020" dirty="0">
                <a:solidFill>
                  <a:srgbClr val="CFE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</a:t>
            </a:r>
            <a:endParaRPr lang="en-US" sz="102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020" dirty="0">
                <a:solidFill>
                  <a:srgbClr val="CFE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 / 求助</a:t>
            </a:r>
            <a:endParaRPr lang="en-US" sz="1020" dirty="0"/>
          </a:p>
          <a:p>
            <a:pPr algn="ctr" indent="0" marL="0">
              <a:lnSpc>
                <a:spcPct val="145000"/>
              </a:lnSpc>
              <a:buNone/>
            </a:pPr>
            <a:r>
              <a:rPr lang="en-US" sz="1020" dirty="0">
                <a:solidFill>
                  <a:srgbClr val="CFE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通知反馈</a:t>
            </a:r>
            <a:endParaRPr lang="en-US" sz="1020" dirty="0"/>
          </a:p>
        </p:txBody>
      </p:sp>
      <p:sp>
        <p:nvSpPr>
          <p:cNvPr id="41" name="Shape 35"/>
          <p:cNvSpPr/>
          <p:nvPr/>
        </p:nvSpPr>
        <p:spPr>
          <a:xfrm>
            <a:off x="658368" y="5989320"/>
            <a:ext cx="10899648" cy="420624"/>
          </a:xfrm>
          <a:prstGeom prst="roundRect">
            <a:avLst>
              <a:gd name="adj" fmla="val 17391"/>
            </a:avLst>
          </a:prstGeom>
          <a:solidFill>
            <a:srgbClr val="EAF5F3"/>
          </a:solidFill>
          <a:ln/>
        </p:spPr>
      </p:sp>
      <p:sp>
        <p:nvSpPr>
          <p:cNvPr id="42" name="Text 36"/>
          <p:cNvSpPr/>
          <p:nvPr/>
        </p:nvSpPr>
        <p:spPr>
          <a:xfrm>
            <a:off x="960120" y="6016752"/>
            <a:ext cx="685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3BAF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</a:t>
            </a:r>
            <a:endParaRPr lang="en-US" sz="1050" dirty="0"/>
          </a:p>
        </p:txBody>
      </p:sp>
      <p:sp>
        <p:nvSpPr>
          <p:cNvPr id="43" name="Text 37"/>
          <p:cNvSpPr/>
          <p:nvPr/>
        </p:nvSpPr>
        <p:spPr>
          <a:xfrm>
            <a:off x="1709928" y="6016752"/>
            <a:ext cx="15087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267E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分类筛选</a:t>
            </a:r>
            <a:endParaRPr lang="en-US" sz="940" dirty="0"/>
          </a:p>
        </p:txBody>
      </p:sp>
      <p:sp>
        <p:nvSpPr>
          <p:cNvPr id="44" name="Text 38"/>
          <p:cNvSpPr/>
          <p:nvPr/>
        </p:nvSpPr>
        <p:spPr>
          <a:xfrm>
            <a:off x="3200400" y="6016752"/>
            <a:ext cx="274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DB5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3566160" y="6016752"/>
            <a:ext cx="685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F9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</a:t>
            </a:r>
            <a:endParaRPr lang="en-US" sz="1050" dirty="0"/>
          </a:p>
        </p:txBody>
      </p:sp>
      <p:sp>
        <p:nvSpPr>
          <p:cNvPr id="46" name="Text 40"/>
          <p:cNvSpPr/>
          <p:nvPr/>
        </p:nvSpPr>
        <p:spPr>
          <a:xfrm>
            <a:off x="4315968" y="6016752"/>
            <a:ext cx="15087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267E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规则评分 0-100</a:t>
            </a:r>
            <a:endParaRPr lang="en-US" sz="940" dirty="0"/>
          </a:p>
        </p:txBody>
      </p:sp>
      <p:sp>
        <p:nvSpPr>
          <p:cNvPr id="47" name="Text 41"/>
          <p:cNvSpPr/>
          <p:nvPr/>
        </p:nvSpPr>
        <p:spPr>
          <a:xfrm>
            <a:off x="5806440" y="6016752"/>
            <a:ext cx="274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DB5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48" name="Text 42"/>
          <p:cNvSpPr/>
          <p:nvPr/>
        </p:nvSpPr>
        <p:spPr>
          <a:xfrm>
            <a:off x="6172200" y="6016752"/>
            <a:ext cx="685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08A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</a:t>
            </a:r>
            <a:endParaRPr lang="en-US" sz="1050" dirty="0"/>
          </a:p>
        </p:txBody>
      </p:sp>
      <p:sp>
        <p:nvSpPr>
          <p:cNvPr id="49" name="Text 43"/>
          <p:cNvSpPr/>
          <p:nvPr/>
        </p:nvSpPr>
        <p:spPr>
          <a:xfrm>
            <a:off x="6922008" y="6016752"/>
            <a:ext cx="15087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267E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领养申请 / 匿名求助</a:t>
            </a:r>
            <a:endParaRPr lang="en-US" sz="940" dirty="0"/>
          </a:p>
        </p:txBody>
      </p:sp>
      <p:sp>
        <p:nvSpPr>
          <p:cNvPr id="50" name="Text 44"/>
          <p:cNvSpPr/>
          <p:nvPr/>
        </p:nvSpPr>
        <p:spPr>
          <a:xfrm>
            <a:off x="8412480" y="6016752"/>
            <a:ext cx="2743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DB5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100" dirty="0"/>
          </a:p>
        </p:txBody>
      </p:sp>
      <p:sp>
        <p:nvSpPr>
          <p:cNvPr id="51" name="Text 45"/>
          <p:cNvSpPr/>
          <p:nvPr/>
        </p:nvSpPr>
        <p:spPr>
          <a:xfrm>
            <a:off x="8778240" y="6016752"/>
            <a:ext cx="6858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4B7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</a:t>
            </a:r>
            <a:endParaRPr lang="en-US" sz="1050" dirty="0"/>
          </a:p>
        </p:txBody>
      </p:sp>
      <p:sp>
        <p:nvSpPr>
          <p:cNvPr id="52" name="Text 46"/>
          <p:cNvSpPr/>
          <p:nvPr/>
        </p:nvSpPr>
        <p:spPr>
          <a:xfrm>
            <a:off x="9528048" y="6016752"/>
            <a:ext cx="15087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267E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通知与进度跟踪</a:t>
            </a:r>
            <a:endParaRPr lang="en-US" sz="940" dirty="0"/>
          </a:p>
        </p:txBody>
      </p:sp>
      <p:sp>
        <p:nvSpPr>
          <p:cNvPr id="53" name="Text 47"/>
          <p:cNvSpPr/>
          <p:nvPr/>
        </p:nvSpPr>
        <p:spPr>
          <a:xfrm>
            <a:off x="658368" y="6455664"/>
            <a:ext cx="73152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i="1" dirty="0">
                <a:solidFill>
                  <a:srgbClr val="F08A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“智能匹配”是可解释的规则评分算法，非机器学习模型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-640080" y="6263640"/>
            <a:ext cx="4572000" cy="594360"/>
          </a:xfrm>
          <a:prstGeom prst="rect">
            <a:avLst/>
          </a:prstGeom>
          <a:solidFill>
            <a:srgbClr val="E9F8F2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480000">
            <a:off x="8732520" y="201168"/>
            <a:ext cx="4114800" cy="502920"/>
          </a:xfrm>
          <a:prstGeom prst="rect">
            <a:avLst/>
          </a:prstGeom>
          <a:solidFill>
            <a:srgbClr val="FBE8EF">
              <a:alpha val="9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300000">
            <a:off x="9464040" y="5522976"/>
            <a:ext cx="2651760" cy="384048"/>
          </a:xfrm>
          <a:prstGeom prst="rect">
            <a:avLst/>
          </a:prstGeom>
          <a:solidFill>
            <a:srgbClr val="E8F5FB">
              <a:alpha val="9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66928"/>
            <a:ext cx="73152" cy="603504"/>
          </a:xfrm>
          <a:prstGeom prst="rect">
            <a:avLst/>
          </a:prstGeom>
          <a:solidFill>
            <a:srgbClr val="2F9E87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spc="100" kern="0" dirty="0">
                <a:solidFill>
                  <a:srgbClr val="2F9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功能实现 ②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8096" y="822960"/>
            <a:ext cx="1078992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领养全流程闭环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1591056"/>
            <a:ext cx="11091672" cy="18288"/>
          </a:xfrm>
          <a:prstGeom prst="rect">
            <a:avLst/>
          </a:prstGeom>
          <a:solidFill>
            <a:srgbClr val="E3EAE6"/>
          </a:solidFill>
          <a:ln/>
        </p:spPr>
      </p:sp>
      <p:sp>
        <p:nvSpPr>
          <p:cNvPr id="9" name="Text 7"/>
          <p:cNvSpPr/>
          <p:nvPr/>
        </p:nvSpPr>
        <p:spPr>
          <a:xfrm>
            <a:off x="10637215" y="6400800"/>
            <a:ext cx="1188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874520"/>
            <a:ext cx="27889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984248"/>
            <a:ext cx="420624" cy="420624"/>
          </a:xfrm>
          <a:prstGeom prst="ellipse">
            <a:avLst/>
          </a:prstGeom>
          <a:solidFill>
            <a:srgbClr val="3BAFDA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25880" y="1965960"/>
            <a:ext cx="731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申请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1965960"/>
            <a:ext cx="11430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用户提交领养表单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216152" y="2450592"/>
            <a:ext cx="3200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5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2697480"/>
            <a:ext cx="27889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2807208"/>
            <a:ext cx="420624" cy="420624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25880" y="2788920"/>
            <a:ext cx="731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11680" y="2788920"/>
            <a:ext cx="11430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管理员批准 / 拒绝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1216152" y="3273552"/>
            <a:ext cx="3200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5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3520440"/>
            <a:ext cx="2788920" cy="640080"/>
          </a:xfrm>
          <a:prstGeom prst="roundRect">
            <a:avLst>
              <a:gd name="adj" fmla="val 14286"/>
            </a:avLst>
          </a:prstGeom>
          <a:solidFill>
            <a:srgbClr val="FBE7DC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" y="3630168"/>
            <a:ext cx="420624" cy="420624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3630168"/>
            <a:ext cx="420624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25880" y="3611880"/>
            <a:ext cx="731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011680" y="3611880"/>
            <a:ext cx="11430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事务内更新动物状态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1216152" y="4096512"/>
            <a:ext cx="3200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5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6928" y="4343400"/>
            <a:ext cx="27889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9808" y="4453128"/>
            <a:ext cx="420624" cy="420624"/>
          </a:xfrm>
          <a:prstGeom prst="ellipse">
            <a:avLst/>
          </a:prstGeom>
          <a:solidFill>
            <a:srgbClr val="7C6FF6"/>
          </a:solidFill>
          <a:ln/>
        </p:spPr>
      </p:sp>
      <p:sp>
        <p:nvSpPr>
          <p:cNvPr id="30" name="Text 28"/>
          <p:cNvSpPr/>
          <p:nvPr/>
        </p:nvSpPr>
        <p:spPr>
          <a:xfrm>
            <a:off x="749808" y="4453128"/>
            <a:ext cx="420624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25880" y="4434840"/>
            <a:ext cx="731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011680" y="4434840"/>
            <a:ext cx="11430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写入档案事件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1216152" y="4919472"/>
            <a:ext cx="3200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5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66928" y="5166360"/>
            <a:ext cx="278892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49808" y="5276088"/>
            <a:ext cx="420624" cy="420624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36" name="Text 34"/>
          <p:cNvSpPr/>
          <p:nvPr/>
        </p:nvSpPr>
        <p:spPr>
          <a:xfrm>
            <a:off x="749808" y="5276088"/>
            <a:ext cx="420624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325880" y="5257800"/>
            <a:ext cx="731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回访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011680" y="5257800"/>
            <a:ext cx="114300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8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到期提醒与跟踪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658368" y="5989320"/>
            <a:ext cx="27432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i="1" dirty="0">
                <a:solidFill>
                  <a:srgbClr val="F08A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关键联动：MySQL 事务 + 行锁，失败自动回滚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3767328" y="1828800"/>
            <a:ext cx="4928616" cy="3327273"/>
          </a:xfrm>
          <a:prstGeom prst="roundRect">
            <a:avLst>
              <a:gd name="adj" fmla="val 21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767328" y="1828800"/>
            <a:ext cx="4928616" cy="274320"/>
          </a:xfrm>
          <a:prstGeom prst="rect">
            <a:avLst/>
          </a:prstGeom>
          <a:solidFill>
            <a:srgbClr val="EAF5F3"/>
          </a:solidFill>
          <a:ln/>
        </p:spPr>
      </p:sp>
      <p:sp>
        <p:nvSpPr>
          <p:cNvPr id="42" name="Shape 40"/>
          <p:cNvSpPr/>
          <p:nvPr/>
        </p:nvSpPr>
        <p:spPr>
          <a:xfrm>
            <a:off x="3913632" y="1920240"/>
            <a:ext cx="91440" cy="91440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43" name="Shape 41"/>
          <p:cNvSpPr/>
          <p:nvPr/>
        </p:nvSpPr>
        <p:spPr>
          <a:xfrm>
            <a:off x="4059936" y="1920240"/>
            <a:ext cx="91440" cy="91440"/>
          </a:xfrm>
          <a:prstGeom prst="ellipse">
            <a:avLst/>
          </a:prstGeom>
          <a:solidFill>
            <a:srgbClr val="CBA96A"/>
          </a:solidFill>
          <a:ln/>
        </p:spPr>
      </p:sp>
      <p:sp>
        <p:nvSpPr>
          <p:cNvPr id="44" name="Shape 42"/>
          <p:cNvSpPr/>
          <p:nvPr/>
        </p:nvSpPr>
        <p:spPr>
          <a:xfrm>
            <a:off x="4206240" y="1920240"/>
            <a:ext cx="91440" cy="91440"/>
          </a:xfrm>
          <a:prstGeom prst="ellipse">
            <a:avLst/>
          </a:prstGeom>
          <a:solidFill>
            <a:srgbClr val="2F9E87"/>
          </a:solidFill>
          <a:ln/>
        </p:spPr>
      </p:sp>
      <p:pic>
        <p:nvPicPr>
          <p:cNvPr id="45" name="Image 0" descr="E:/Wwangyesheji/docs/ppt_assets/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7056" y="2103120"/>
            <a:ext cx="4709160" cy="2943225"/>
          </a:xfrm>
          <a:prstGeom prst="rect">
            <a:avLst/>
          </a:prstGeom>
        </p:spPr>
      </p:pic>
      <p:sp>
        <p:nvSpPr>
          <p:cNvPr id="46" name="Shape 43"/>
          <p:cNvSpPr/>
          <p:nvPr/>
        </p:nvSpPr>
        <p:spPr>
          <a:xfrm>
            <a:off x="8915400" y="2542032"/>
            <a:ext cx="2798064" cy="1995678"/>
          </a:xfrm>
          <a:prstGeom prst="roundRect">
            <a:avLst>
              <a:gd name="adj" fmla="val 36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47" name="Shape 44"/>
          <p:cNvSpPr/>
          <p:nvPr/>
        </p:nvSpPr>
        <p:spPr>
          <a:xfrm>
            <a:off x="8915400" y="2542032"/>
            <a:ext cx="2798064" cy="274320"/>
          </a:xfrm>
          <a:prstGeom prst="rect">
            <a:avLst/>
          </a:prstGeom>
          <a:solidFill>
            <a:srgbClr val="EAF5F3"/>
          </a:solidFill>
          <a:ln/>
        </p:spPr>
      </p:sp>
      <p:sp>
        <p:nvSpPr>
          <p:cNvPr id="48" name="Shape 45"/>
          <p:cNvSpPr/>
          <p:nvPr/>
        </p:nvSpPr>
        <p:spPr>
          <a:xfrm>
            <a:off x="9061704" y="2633472"/>
            <a:ext cx="91440" cy="91440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49" name="Shape 46"/>
          <p:cNvSpPr/>
          <p:nvPr/>
        </p:nvSpPr>
        <p:spPr>
          <a:xfrm>
            <a:off x="9208008" y="2633472"/>
            <a:ext cx="91440" cy="91440"/>
          </a:xfrm>
          <a:prstGeom prst="ellipse">
            <a:avLst/>
          </a:prstGeom>
          <a:solidFill>
            <a:srgbClr val="CBA96A"/>
          </a:solidFill>
          <a:ln/>
        </p:spPr>
      </p:sp>
      <p:sp>
        <p:nvSpPr>
          <p:cNvPr id="50" name="Shape 47"/>
          <p:cNvSpPr/>
          <p:nvPr/>
        </p:nvSpPr>
        <p:spPr>
          <a:xfrm>
            <a:off x="9354312" y="2633472"/>
            <a:ext cx="91440" cy="91440"/>
          </a:xfrm>
          <a:prstGeom prst="ellipse">
            <a:avLst/>
          </a:prstGeom>
          <a:solidFill>
            <a:srgbClr val="2F9E87"/>
          </a:solidFill>
          <a:ln/>
        </p:spPr>
      </p:sp>
      <p:pic>
        <p:nvPicPr>
          <p:cNvPr id="51" name="Image 1" descr="E:/Wwangyesheji/docs/ppt_assets/certific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5128" y="2816352"/>
            <a:ext cx="2578608" cy="1611630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3767328" y="5349240"/>
            <a:ext cx="49377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动物详情：健康档案、事件时间线、相关推荐</a:t>
            </a:r>
            <a:endParaRPr lang="en-US" sz="980" dirty="0"/>
          </a:p>
        </p:txBody>
      </p:sp>
      <p:sp>
        <p:nvSpPr>
          <p:cNvPr id="53" name="Text 49"/>
          <p:cNvSpPr/>
          <p:nvPr/>
        </p:nvSpPr>
        <p:spPr>
          <a:xfrm>
            <a:off x="8915400" y="4709160"/>
            <a:ext cx="2788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8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电子证书：编号 + 二维码</a:t>
            </a:r>
            <a:endParaRPr lang="en-US" sz="980" dirty="0"/>
          </a:p>
        </p:txBody>
      </p:sp>
      <p:sp>
        <p:nvSpPr>
          <p:cNvPr id="54" name="Shape 50"/>
          <p:cNvSpPr/>
          <p:nvPr/>
        </p:nvSpPr>
        <p:spPr>
          <a:xfrm>
            <a:off x="3767328" y="5779008"/>
            <a:ext cx="7882128" cy="457200"/>
          </a:xfrm>
          <a:prstGeom prst="roundRect">
            <a:avLst>
              <a:gd name="adj" fmla="val 16000"/>
            </a:avLst>
          </a:prstGeom>
          <a:solidFill>
            <a:srgbClr val="EAF5F3"/>
          </a:solidFill>
          <a:ln/>
        </p:spPr>
      </p:sp>
      <p:sp>
        <p:nvSpPr>
          <p:cNvPr id="55" name="Text 51"/>
          <p:cNvSpPr/>
          <p:nvPr/>
        </p:nvSpPr>
        <p:spPr>
          <a:xfrm>
            <a:off x="3767328" y="5779008"/>
            <a:ext cx="788212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67E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业务闭环 = 用户申请、管理员审核、状态变更、通知推送、档案沉淀、回访提醒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-640080" y="6263640"/>
            <a:ext cx="4572000" cy="594360"/>
          </a:xfrm>
          <a:prstGeom prst="rect">
            <a:avLst/>
          </a:prstGeom>
          <a:solidFill>
            <a:srgbClr val="E8F5FB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480000">
            <a:off x="8732520" y="201168"/>
            <a:ext cx="4114800" cy="502920"/>
          </a:xfrm>
          <a:prstGeom prst="rect">
            <a:avLst/>
          </a:prstGeom>
          <a:solidFill>
            <a:srgbClr val="E9F8F2">
              <a:alpha val="9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300000">
            <a:off x="9464040" y="5522976"/>
            <a:ext cx="2651760" cy="384048"/>
          </a:xfrm>
          <a:prstGeom prst="rect">
            <a:avLst/>
          </a:prstGeom>
          <a:solidFill>
            <a:srgbClr val="FBE8EF">
              <a:alpha val="9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66928"/>
            <a:ext cx="73152" cy="603504"/>
          </a:xfrm>
          <a:prstGeom prst="rect">
            <a:avLst/>
          </a:prstGeom>
          <a:solidFill>
            <a:srgbClr val="2F9E87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spc="100" kern="0" dirty="0">
                <a:solidFill>
                  <a:srgbClr val="2F9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功能实现 ③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8096" y="822960"/>
            <a:ext cx="1078992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管理后台与数据看板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1591056"/>
            <a:ext cx="11091672" cy="18288"/>
          </a:xfrm>
          <a:prstGeom prst="rect">
            <a:avLst/>
          </a:prstGeom>
          <a:solidFill>
            <a:srgbClr val="E3EAE6"/>
          </a:solidFill>
          <a:ln/>
        </p:spPr>
      </p:sp>
      <p:sp>
        <p:nvSpPr>
          <p:cNvPr id="9" name="Text 7"/>
          <p:cNvSpPr/>
          <p:nvPr/>
        </p:nvSpPr>
        <p:spPr>
          <a:xfrm>
            <a:off x="10637215" y="6400800"/>
            <a:ext cx="1188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" y="1737360"/>
            <a:ext cx="5705856" cy="3813048"/>
          </a:xfrm>
          <a:prstGeom prst="roundRect">
            <a:avLst>
              <a:gd name="adj" fmla="val 19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" y="1737360"/>
            <a:ext cx="5705856" cy="274320"/>
          </a:xfrm>
          <a:prstGeom prst="rect">
            <a:avLst/>
          </a:prstGeom>
          <a:solidFill>
            <a:srgbClr val="EAF5F3"/>
          </a:solidFill>
          <a:ln/>
        </p:spPr>
      </p:sp>
      <p:sp>
        <p:nvSpPr>
          <p:cNvPr id="12" name="Shape 10"/>
          <p:cNvSpPr/>
          <p:nvPr/>
        </p:nvSpPr>
        <p:spPr>
          <a:xfrm>
            <a:off x="804672" y="1828800"/>
            <a:ext cx="91440" cy="91440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13" name="Shape 11"/>
          <p:cNvSpPr/>
          <p:nvPr/>
        </p:nvSpPr>
        <p:spPr>
          <a:xfrm>
            <a:off x="950976" y="1828800"/>
            <a:ext cx="91440" cy="91440"/>
          </a:xfrm>
          <a:prstGeom prst="ellipse">
            <a:avLst/>
          </a:prstGeom>
          <a:solidFill>
            <a:srgbClr val="CBA96A"/>
          </a:solidFill>
          <a:ln/>
        </p:spPr>
      </p:sp>
      <p:sp>
        <p:nvSpPr>
          <p:cNvPr id="14" name="Shape 12"/>
          <p:cNvSpPr/>
          <p:nvPr/>
        </p:nvSpPr>
        <p:spPr>
          <a:xfrm>
            <a:off x="1097280" y="1828800"/>
            <a:ext cx="91440" cy="91440"/>
          </a:xfrm>
          <a:prstGeom prst="ellipse">
            <a:avLst/>
          </a:prstGeom>
          <a:solidFill>
            <a:srgbClr val="2F9E87"/>
          </a:solidFill>
          <a:ln/>
        </p:spPr>
      </p:sp>
      <p:pic>
        <p:nvPicPr>
          <p:cNvPr id="15" name="Image 0" descr="E:/Wwangyesheji/docs/ppt_assets/admin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2011680"/>
            <a:ext cx="5486400" cy="34290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58368" y="5614416"/>
            <a:ext cx="570585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数据看板 · ECharts 三图与待办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720840" y="1901952"/>
            <a:ext cx="4837176" cy="3270123"/>
          </a:xfrm>
          <a:prstGeom prst="roundRect">
            <a:avLst>
              <a:gd name="adj" fmla="val 22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720840" y="1901952"/>
            <a:ext cx="4837176" cy="274320"/>
          </a:xfrm>
          <a:prstGeom prst="rect">
            <a:avLst/>
          </a:prstGeom>
          <a:solidFill>
            <a:srgbClr val="EAF5F3"/>
          </a:solidFill>
          <a:ln/>
        </p:spPr>
      </p:sp>
      <p:sp>
        <p:nvSpPr>
          <p:cNvPr id="19" name="Shape 16"/>
          <p:cNvSpPr/>
          <p:nvPr/>
        </p:nvSpPr>
        <p:spPr>
          <a:xfrm>
            <a:off x="6867144" y="1993392"/>
            <a:ext cx="91440" cy="91440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20" name="Shape 17"/>
          <p:cNvSpPr/>
          <p:nvPr/>
        </p:nvSpPr>
        <p:spPr>
          <a:xfrm>
            <a:off x="7013448" y="1993392"/>
            <a:ext cx="91440" cy="91440"/>
          </a:xfrm>
          <a:prstGeom prst="ellipse">
            <a:avLst/>
          </a:prstGeom>
          <a:solidFill>
            <a:srgbClr val="CBA96A"/>
          </a:solidFill>
          <a:ln/>
        </p:spPr>
      </p:sp>
      <p:sp>
        <p:nvSpPr>
          <p:cNvPr id="21" name="Shape 18"/>
          <p:cNvSpPr/>
          <p:nvPr/>
        </p:nvSpPr>
        <p:spPr>
          <a:xfrm>
            <a:off x="7159752" y="1993392"/>
            <a:ext cx="91440" cy="91440"/>
          </a:xfrm>
          <a:prstGeom prst="ellipse">
            <a:avLst/>
          </a:prstGeom>
          <a:solidFill>
            <a:srgbClr val="2F9E87"/>
          </a:solidFill>
          <a:ln/>
        </p:spPr>
      </p:sp>
      <p:pic>
        <p:nvPicPr>
          <p:cNvPr id="22" name="Image 1" descr="E:/Wwangyesheji/docs/ppt_assets/admin_anima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568" y="2176272"/>
            <a:ext cx="4617720" cy="288607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720840" y="5349240"/>
            <a:ext cx="483717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动物管理 · 状态快捷筛选与 CSV 导出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58368" y="5989320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41248" y="6144768"/>
            <a:ext cx="128016" cy="128016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26" name="Text 22"/>
          <p:cNvSpPr/>
          <p:nvPr/>
        </p:nvSpPr>
        <p:spPr>
          <a:xfrm>
            <a:off x="1051560" y="5989320"/>
            <a:ext cx="21031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真实统计接口 · 趋势 / 状态 / 紧急度</a:t>
            </a:r>
            <a:endParaRPr lang="en-US" sz="920" dirty="0"/>
          </a:p>
        </p:txBody>
      </p:sp>
      <p:sp>
        <p:nvSpPr>
          <p:cNvPr id="27" name="Shape 23"/>
          <p:cNvSpPr/>
          <p:nvPr/>
        </p:nvSpPr>
        <p:spPr>
          <a:xfrm>
            <a:off x="3429000" y="5989320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3611880" y="6144768"/>
            <a:ext cx="128016" cy="128016"/>
          </a:xfrm>
          <a:prstGeom prst="ellipse">
            <a:avLst/>
          </a:prstGeom>
          <a:solidFill>
            <a:srgbClr val="3BAFDA"/>
          </a:solidFill>
          <a:ln/>
        </p:spPr>
      </p:sp>
      <p:sp>
        <p:nvSpPr>
          <p:cNvPr id="29" name="Text 25"/>
          <p:cNvSpPr/>
          <p:nvPr/>
        </p:nvSpPr>
        <p:spPr>
          <a:xfrm>
            <a:off x="3822192" y="5989320"/>
            <a:ext cx="21031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待办驱动运营 · 审核、救助、回访提醒</a:t>
            </a:r>
            <a:endParaRPr lang="en-US" sz="920" dirty="0"/>
          </a:p>
        </p:txBody>
      </p:sp>
      <p:sp>
        <p:nvSpPr>
          <p:cNvPr id="30" name="Shape 26"/>
          <p:cNvSpPr/>
          <p:nvPr/>
        </p:nvSpPr>
        <p:spPr>
          <a:xfrm>
            <a:off x="6199632" y="5989320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382512" y="6144768"/>
            <a:ext cx="128016" cy="128016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32" name="Text 28"/>
          <p:cNvSpPr/>
          <p:nvPr/>
        </p:nvSpPr>
        <p:spPr>
          <a:xfrm>
            <a:off x="6592824" y="5989320"/>
            <a:ext cx="21031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批量管理 · 状态筛选、相册、档案</a:t>
            </a:r>
            <a:endParaRPr lang="en-US" sz="920" dirty="0"/>
          </a:p>
        </p:txBody>
      </p:sp>
      <p:sp>
        <p:nvSpPr>
          <p:cNvPr id="33" name="Shape 29"/>
          <p:cNvSpPr/>
          <p:nvPr/>
        </p:nvSpPr>
        <p:spPr>
          <a:xfrm>
            <a:off x="8970264" y="5989320"/>
            <a:ext cx="260604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9153144" y="6144768"/>
            <a:ext cx="128016" cy="128016"/>
          </a:xfrm>
          <a:prstGeom prst="ellipse">
            <a:avLst/>
          </a:prstGeom>
          <a:solidFill>
            <a:srgbClr val="7C6FF6"/>
          </a:solidFill>
          <a:ln/>
        </p:spPr>
      </p:sp>
      <p:sp>
        <p:nvSpPr>
          <p:cNvPr id="35" name="Text 31"/>
          <p:cNvSpPr/>
          <p:nvPr/>
        </p:nvSpPr>
        <p:spPr>
          <a:xfrm>
            <a:off x="9363456" y="5989320"/>
            <a:ext cx="210312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可导出 · CSV 汇总当前筛选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-640080" y="6263640"/>
            <a:ext cx="4572000" cy="594360"/>
          </a:xfrm>
          <a:prstGeom prst="rect">
            <a:avLst/>
          </a:prstGeom>
          <a:solidFill>
            <a:srgbClr val="EFEDFF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480000">
            <a:off x="8732520" y="201168"/>
            <a:ext cx="4114800" cy="502920"/>
          </a:xfrm>
          <a:prstGeom prst="rect">
            <a:avLst/>
          </a:prstGeom>
          <a:solidFill>
            <a:srgbClr val="E9F8F2">
              <a:alpha val="9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300000">
            <a:off x="9464040" y="5522976"/>
            <a:ext cx="2651760" cy="384048"/>
          </a:xfrm>
          <a:prstGeom prst="rect">
            <a:avLst/>
          </a:prstGeom>
          <a:solidFill>
            <a:srgbClr val="FFF4D8">
              <a:alpha val="9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66928"/>
            <a:ext cx="73152" cy="603504"/>
          </a:xfrm>
          <a:prstGeom prst="rect">
            <a:avLst/>
          </a:prstGeom>
          <a:solidFill>
            <a:srgbClr val="2F9E87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spc="100" kern="0" dirty="0">
                <a:solidFill>
                  <a:srgbClr val="2F9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创新点与特色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8096" y="822960"/>
            <a:ext cx="1078992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已落地的差异化亮点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1591056"/>
            <a:ext cx="11091672" cy="18288"/>
          </a:xfrm>
          <a:prstGeom prst="rect">
            <a:avLst/>
          </a:prstGeom>
          <a:solidFill>
            <a:srgbClr val="E3EAE6"/>
          </a:solidFill>
          <a:ln/>
        </p:spPr>
      </p:sp>
      <p:sp>
        <p:nvSpPr>
          <p:cNvPr id="9" name="Text 7"/>
          <p:cNvSpPr/>
          <p:nvPr/>
        </p:nvSpPr>
        <p:spPr>
          <a:xfrm>
            <a:off x="10637215" y="6400800"/>
            <a:ext cx="1188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1847088"/>
            <a:ext cx="2971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68096" y="2029968"/>
            <a:ext cx="420624" cy="420624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16736" y="1993392"/>
            <a:ext cx="20574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智能领养匹配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316736" y="2304288"/>
            <a:ext cx="2057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偏好规则评分 0–100 + 可解释理由（非 AI 模型）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3721608" y="1847088"/>
            <a:ext cx="2971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22776" y="2029968"/>
            <a:ext cx="420624" cy="420624"/>
          </a:xfrm>
          <a:prstGeom prst="ellipse">
            <a:avLst/>
          </a:prstGeom>
          <a:solidFill>
            <a:srgbClr val="3BAFDA"/>
          </a:solidFill>
          <a:ln/>
        </p:spPr>
      </p:sp>
      <p:sp>
        <p:nvSpPr>
          <p:cNvPr id="17" name="Text 15"/>
          <p:cNvSpPr/>
          <p:nvPr/>
        </p:nvSpPr>
        <p:spPr>
          <a:xfrm>
            <a:off x="3922776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71416" y="1993392"/>
            <a:ext cx="20574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领养建议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71416" y="2304288"/>
            <a:ext cx="2057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前端规则推断"它适合谁"，与匹配互补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566928" y="2980944"/>
            <a:ext cx="2971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3163824"/>
            <a:ext cx="420624" cy="420624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" y="3163824"/>
            <a:ext cx="420624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16736" y="3127248"/>
            <a:ext cx="20574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档案生命周期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316736" y="3438144"/>
            <a:ext cx="2057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救助→体检→疫苗→绝育→上架→被领养时间线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3721608" y="2980944"/>
            <a:ext cx="2971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922776" y="3163824"/>
            <a:ext cx="420624" cy="420624"/>
          </a:xfrm>
          <a:prstGeom prst="ellipse">
            <a:avLst/>
          </a:prstGeom>
          <a:solidFill>
            <a:srgbClr val="7C6FF6"/>
          </a:solidFill>
          <a:ln/>
        </p:spPr>
      </p:sp>
      <p:sp>
        <p:nvSpPr>
          <p:cNvPr id="27" name="Text 25"/>
          <p:cNvSpPr/>
          <p:nvPr/>
        </p:nvSpPr>
        <p:spPr>
          <a:xfrm>
            <a:off x="3922776" y="3163824"/>
            <a:ext cx="420624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471416" y="3127248"/>
            <a:ext cx="20574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 + 站内通知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471416" y="3438144"/>
            <a:ext cx="2057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多表联动，审核 / 回访自动推送提醒</a:t>
            </a:r>
            <a:endParaRPr lang="en-US" sz="860" dirty="0"/>
          </a:p>
        </p:txBody>
      </p:sp>
      <p:sp>
        <p:nvSpPr>
          <p:cNvPr id="30" name="Shape 28"/>
          <p:cNvSpPr/>
          <p:nvPr/>
        </p:nvSpPr>
        <p:spPr>
          <a:xfrm>
            <a:off x="566928" y="4114800"/>
            <a:ext cx="2971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68096" y="4297680"/>
            <a:ext cx="420624" cy="420624"/>
          </a:xfrm>
          <a:prstGeom prst="ellipse">
            <a:avLst/>
          </a:prstGeom>
          <a:solidFill>
            <a:srgbClr val="F4B740"/>
          </a:solidFill>
          <a:ln/>
        </p:spPr>
      </p:sp>
      <p:sp>
        <p:nvSpPr>
          <p:cNvPr id="32" name="Text 30"/>
          <p:cNvSpPr/>
          <p:nvPr/>
        </p:nvSpPr>
        <p:spPr>
          <a:xfrm>
            <a:off x="768096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316736" y="4261104"/>
            <a:ext cx="20574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电子证书 + 二维码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316736" y="4572000"/>
            <a:ext cx="2057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唯一编号，可打印 / 存 PDF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3721608" y="4114800"/>
            <a:ext cx="2971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922776" y="4297680"/>
            <a:ext cx="420624" cy="420624"/>
          </a:xfrm>
          <a:prstGeom prst="ellipse">
            <a:avLst/>
          </a:prstGeom>
          <a:solidFill>
            <a:srgbClr val="DD6B8F"/>
          </a:solidFill>
          <a:ln/>
        </p:spPr>
      </p:sp>
      <p:sp>
        <p:nvSpPr>
          <p:cNvPr id="37" name="Text 35"/>
          <p:cNvSpPr/>
          <p:nvPr/>
        </p:nvSpPr>
        <p:spPr>
          <a:xfrm>
            <a:off x="3922776" y="4297680"/>
            <a:ext cx="420624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471416" y="4261104"/>
            <a:ext cx="20574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进度日志 + 脱敏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471416" y="4572000"/>
            <a:ext cx="2057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救助处理时间线，非授权查看手机号脱敏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7086600" y="1828800"/>
            <a:ext cx="4379976" cy="2984373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086600" y="1828800"/>
            <a:ext cx="4379976" cy="274320"/>
          </a:xfrm>
          <a:prstGeom prst="rect">
            <a:avLst/>
          </a:prstGeom>
          <a:solidFill>
            <a:srgbClr val="EAF5F3"/>
          </a:solidFill>
          <a:ln/>
        </p:spPr>
      </p:sp>
      <p:sp>
        <p:nvSpPr>
          <p:cNvPr id="42" name="Shape 40"/>
          <p:cNvSpPr/>
          <p:nvPr/>
        </p:nvSpPr>
        <p:spPr>
          <a:xfrm>
            <a:off x="7232904" y="1920240"/>
            <a:ext cx="91440" cy="91440"/>
          </a:xfrm>
          <a:prstGeom prst="ellipse">
            <a:avLst/>
          </a:prstGeom>
          <a:solidFill>
            <a:srgbClr val="F08A5D"/>
          </a:solidFill>
          <a:ln/>
        </p:spPr>
      </p:sp>
      <p:sp>
        <p:nvSpPr>
          <p:cNvPr id="43" name="Shape 41"/>
          <p:cNvSpPr/>
          <p:nvPr/>
        </p:nvSpPr>
        <p:spPr>
          <a:xfrm>
            <a:off x="7379208" y="1920240"/>
            <a:ext cx="91440" cy="91440"/>
          </a:xfrm>
          <a:prstGeom prst="ellipse">
            <a:avLst/>
          </a:prstGeom>
          <a:solidFill>
            <a:srgbClr val="CBA96A"/>
          </a:solidFill>
          <a:ln/>
        </p:spPr>
      </p:sp>
      <p:sp>
        <p:nvSpPr>
          <p:cNvPr id="44" name="Shape 42"/>
          <p:cNvSpPr/>
          <p:nvPr/>
        </p:nvSpPr>
        <p:spPr>
          <a:xfrm>
            <a:off x="7525512" y="1920240"/>
            <a:ext cx="91440" cy="91440"/>
          </a:xfrm>
          <a:prstGeom prst="ellipse">
            <a:avLst/>
          </a:prstGeom>
          <a:solidFill>
            <a:srgbClr val="2F9E87"/>
          </a:solidFill>
          <a:ln/>
        </p:spPr>
      </p:sp>
      <p:pic>
        <p:nvPicPr>
          <p:cNvPr id="45" name="Image 0" descr="E:/Wwangyesheji/docs/ppt_assets/home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6328" y="2103120"/>
            <a:ext cx="4160520" cy="2600325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7086600" y="4892040"/>
            <a:ext cx="43891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明暗主题 · 前台体验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7818120" y="5257800"/>
            <a:ext cx="3474720" cy="530352"/>
          </a:xfrm>
          <a:prstGeom prst="roundRect">
            <a:avLst>
              <a:gd name="adj" fmla="val 17241"/>
            </a:avLst>
          </a:prstGeom>
          <a:solidFill>
            <a:srgbClr val="173B35"/>
          </a:solidFill>
          <a:ln/>
        </p:spPr>
      </p:sp>
      <p:sp>
        <p:nvSpPr>
          <p:cNvPr id="48" name="Text 45"/>
          <p:cNvSpPr/>
          <p:nvPr/>
        </p:nvSpPr>
        <p:spPr>
          <a:xfrm>
            <a:off x="7818120" y="5257800"/>
            <a:ext cx="3474720" cy="530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CFE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Design Token / 骨架屏 / 图片兜底 / CSV 导出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566928" y="6053328"/>
            <a:ext cx="53035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i="1" dirty="0">
                <a:solidFill>
                  <a:srgbClr val="F08A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匹配推荐为规则评分算法，非机器学习模型</a:t>
            </a:r>
            <a:endParaRPr lang="en-US" sz="9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-640080" y="6263640"/>
            <a:ext cx="4572000" cy="594360"/>
          </a:xfrm>
          <a:prstGeom prst="rect">
            <a:avLst/>
          </a:prstGeom>
          <a:solidFill>
            <a:srgbClr val="E9F8F2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480000">
            <a:off x="8732520" y="201168"/>
            <a:ext cx="4114800" cy="502920"/>
          </a:xfrm>
          <a:prstGeom prst="rect">
            <a:avLst/>
          </a:prstGeom>
          <a:solidFill>
            <a:srgbClr val="E8F5FB">
              <a:alpha val="9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300000">
            <a:off x="9464040" y="5522976"/>
            <a:ext cx="2651760" cy="384048"/>
          </a:xfrm>
          <a:prstGeom prst="rect">
            <a:avLst/>
          </a:prstGeom>
          <a:solidFill>
            <a:srgbClr val="FBE8EF">
              <a:alpha val="9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66928"/>
            <a:ext cx="73152" cy="603504"/>
          </a:xfrm>
          <a:prstGeom prst="rect">
            <a:avLst/>
          </a:prstGeom>
          <a:solidFill>
            <a:srgbClr val="2F9E87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spc="100" kern="0" dirty="0">
                <a:solidFill>
                  <a:srgbClr val="2F9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工程质量、安全与测试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8096" y="822960"/>
            <a:ext cx="1078992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 · 诚实 · 可交付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1591056"/>
            <a:ext cx="11091672" cy="18288"/>
          </a:xfrm>
          <a:prstGeom prst="rect">
            <a:avLst/>
          </a:prstGeom>
          <a:solidFill>
            <a:srgbClr val="E3EAE6"/>
          </a:solidFill>
          <a:ln/>
        </p:spPr>
      </p:sp>
      <p:sp>
        <p:nvSpPr>
          <p:cNvPr id="9" name="Text 7"/>
          <p:cNvSpPr/>
          <p:nvPr/>
        </p:nvSpPr>
        <p:spPr>
          <a:xfrm>
            <a:off x="10637215" y="6400800"/>
            <a:ext cx="1188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1783080"/>
            <a:ext cx="64008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F9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安全与健壮性（均有代码支撑）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2860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2286000"/>
            <a:ext cx="73152" cy="914400"/>
          </a:xfrm>
          <a:prstGeom prst="rect">
            <a:avLst/>
          </a:prstGeom>
          <a:solidFill>
            <a:srgbClr val="2F9E87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2395728"/>
            <a:ext cx="24688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bcrypt 加盐哈希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68096" y="2743200"/>
            <a:ext cx="24688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 10 轮哈希，不存明文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47288" y="22860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47288" y="2286000"/>
            <a:ext cx="73152" cy="914400"/>
          </a:xfrm>
          <a:prstGeom prst="rect">
            <a:avLst/>
          </a:prstGeom>
          <a:solidFill>
            <a:srgbClr val="2F9E87"/>
          </a:solidFill>
          <a:ln/>
        </p:spPr>
      </p:sp>
      <p:sp>
        <p:nvSpPr>
          <p:cNvPr id="17" name="Text 15"/>
          <p:cNvSpPr/>
          <p:nvPr/>
        </p:nvSpPr>
        <p:spPr>
          <a:xfrm>
            <a:off x="3648456" y="2395728"/>
            <a:ext cx="24688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三级权限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48456" y="2743200"/>
            <a:ext cx="24688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 / 管理员 / 可选认证中间件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66928" y="333756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" y="3337560"/>
            <a:ext cx="73152" cy="914400"/>
          </a:xfrm>
          <a:prstGeom prst="rect">
            <a:avLst/>
          </a:prstGeom>
          <a:solidFill>
            <a:srgbClr val="2F9E87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3447288"/>
            <a:ext cx="24688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参数化查询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68096" y="3794760"/>
            <a:ext cx="24688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mysql2 占位符 + 更新字段白名单防注入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47288" y="333756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47288" y="3337560"/>
            <a:ext cx="73152" cy="914400"/>
          </a:xfrm>
          <a:prstGeom prst="rect">
            <a:avLst/>
          </a:prstGeom>
          <a:solidFill>
            <a:srgbClr val="2F9E87"/>
          </a:solidFill>
          <a:ln/>
        </p:spPr>
      </p:sp>
      <p:sp>
        <p:nvSpPr>
          <p:cNvPr id="25" name="Text 23"/>
          <p:cNvSpPr/>
          <p:nvPr/>
        </p:nvSpPr>
        <p:spPr>
          <a:xfrm>
            <a:off x="3648456" y="3447288"/>
            <a:ext cx="24688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事务一致性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648456" y="3794760"/>
            <a:ext cx="24688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领养审核 / 完成同事务提交并回滚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6928" y="438912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6928" y="4389120"/>
            <a:ext cx="73152" cy="914400"/>
          </a:xfrm>
          <a:prstGeom prst="rect">
            <a:avLst/>
          </a:prstGeom>
          <a:solidFill>
            <a:srgbClr val="2F9E87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96" y="4498848"/>
            <a:ext cx="24688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DOMPurify + CORS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68096" y="4846320"/>
            <a:ext cx="24688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富文本过滤；非白名单来源拒绝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47288" y="438912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47288" y="4389120"/>
            <a:ext cx="73152" cy="914400"/>
          </a:xfrm>
          <a:prstGeom prst="rect">
            <a:avLst/>
          </a:prstGeom>
          <a:solidFill>
            <a:srgbClr val="2F9E87"/>
          </a:solidFill>
          <a:ln/>
        </p:spPr>
      </p:sp>
      <p:sp>
        <p:nvSpPr>
          <p:cNvPr id="33" name="Text 31"/>
          <p:cNvSpPr/>
          <p:nvPr/>
        </p:nvSpPr>
        <p:spPr>
          <a:xfrm>
            <a:off x="3648456" y="4498848"/>
            <a:ext cx="24688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上传限制 + 脱敏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648456" y="4846320"/>
            <a:ext cx="24688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 / 5MB 限制；手机号脱敏展示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46520" y="1783080"/>
            <a:ext cx="12802" cy="4389120"/>
          </a:xfrm>
          <a:prstGeom prst="rect">
            <a:avLst/>
          </a:prstGeom>
          <a:solidFill>
            <a:srgbClr val="E3EAE6"/>
          </a:solidFill>
          <a:ln/>
        </p:spPr>
      </p:sp>
      <p:sp>
        <p:nvSpPr>
          <p:cNvPr id="36" name="Text 34"/>
          <p:cNvSpPr/>
          <p:nvPr/>
        </p:nvSpPr>
        <p:spPr>
          <a:xfrm>
            <a:off x="672084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08A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测试情况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720840" y="2286000"/>
            <a:ext cx="4937760" cy="1097280"/>
          </a:xfrm>
          <a:prstGeom prst="roundRect">
            <a:avLst>
              <a:gd name="adj" fmla="val 8333"/>
            </a:avLst>
          </a:prstGeom>
          <a:solidFill>
            <a:srgbClr val="FBE7DC"/>
          </a:solidFill>
          <a:ln/>
        </p:spPr>
      </p:sp>
      <p:sp>
        <p:nvSpPr>
          <p:cNvPr id="38" name="Text 36"/>
          <p:cNvSpPr/>
          <p:nvPr/>
        </p:nvSpPr>
        <p:spPr>
          <a:xfrm>
            <a:off x="694944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测试方式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949440" y="2706624"/>
            <a:ext cx="45720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3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人工功能测试 + 端到端走查 + API 自检</a:t>
            </a:r>
            <a:endParaRPr lang="en-US" sz="103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03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（完整单元/集成测试与 CI 为后续改进项）</a:t>
            </a:r>
            <a:endParaRPr lang="en-US" sz="1030" dirty="0"/>
          </a:p>
        </p:txBody>
      </p:sp>
      <p:sp>
        <p:nvSpPr>
          <p:cNvPr id="40" name="Text 38"/>
          <p:cNvSpPr/>
          <p:nvPr/>
        </p:nvSpPr>
        <p:spPr>
          <a:xfrm>
            <a:off x="6720840" y="3584448"/>
            <a:ext cx="45720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覆盖范围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20840" y="3931920"/>
            <a:ext cx="493776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48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注册 / 登录 / 鉴权与角色权限拦截</a:t>
            </a:r>
            <a:endParaRPr lang="en-US" sz="1050" dirty="0"/>
          </a:p>
          <a:p>
            <a:pPr algn="l" indent="0" marL="0">
              <a:lnSpc>
                <a:spcPct val="148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动物 CRUD、相册、档案事件</a:t>
            </a:r>
            <a:endParaRPr lang="en-US" sz="1050" dirty="0"/>
          </a:p>
          <a:p>
            <a:pPr algn="l" indent="0" marL="0">
              <a:lnSpc>
                <a:spcPct val="148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领养申请→审核→完成闭环 + 事务一致性</a:t>
            </a:r>
            <a:endParaRPr lang="en-US" sz="1050" dirty="0"/>
          </a:p>
          <a:p>
            <a:pPr algn="l" indent="0" marL="0">
              <a:lnSpc>
                <a:spcPct val="148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救助提交→处置→进度日志、脱敏</a:t>
            </a:r>
            <a:endParaRPr lang="en-US" sz="1050" dirty="0"/>
          </a:p>
          <a:p>
            <a:pPr algn="l" indent="0" marL="0">
              <a:lnSpc>
                <a:spcPct val="148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self-check 覆盖健康检查、核心接口、401/404、CORS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720840" y="6126480"/>
            <a:ext cx="49377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i="1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配套 npm run seed + npm run self-check，可快速复测交付环境</a:t>
            </a:r>
            <a:endParaRPr lang="en-US" sz="9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-640080" y="6263640"/>
            <a:ext cx="4572000" cy="594360"/>
          </a:xfrm>
          <a:prstGeom prst="rect">
            <a:avLst/>
          </a:prstGeom>
          <a:solidFill>
            <a:srgbClr val="E8F5FB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480000">
            <a:off x="8732520" y="201168"/>
            <a:ext cx="4114800" cy="502920"/>
          </a:xfrm>
          <a:prstGeom prst="rect">
            <a:avLst/>
          </a:prstGeom>
          <a:solidFill>
            <a:srgbClr val="E9F8F2">
              <a:alpha val="9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300000">
            <a:off x="9464040" y="5522976"/>
            <a:ext cx="2651760" cy="384048"/>
          </a:xfrm>
          <a:prstGeom prst="rect">
            <a:avLst/>
          </a:prstGeom>
          <a:solidFill>
            <a:srgbClr val="FFF4D8">
              <a:alpha val="9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66928"/>
            <a:ext cx="73152" cy="603504"/>
          </a:xfrm>
          <a:prstGeom prst="rect">
            <a:avLst/>
          </a:prstGeom>
          <a:solidFill>
            <a:srgbClr val="2F9E87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spc="100" kern="0" dirty="0">
                <a:solidFill>
                  <a:srgbClr val="2F9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部署与运行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8096" y="822960"/>
            <a:ext cx="1078992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异机本地运行场景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1591056"/>
            <a:ext cx="11091672" cy="18288"/>
          </a:xfrm>
          <a:prstGeom prst="rect">
            <a:avLst/>
          </a:prstGeom>
          <a:solidFill>
            <a:srgbClr val="E3EAE6"/>
          </a:solidFill>
          <a:ln/>
        </p:spPr>
      </p:sp>
      <p:sp>
        <p:nvSpPr>
          <p:cNvPr id="9" name="Text 7"/>
          <p:cNvSpPr/>
          <p:nvPr/>
        </p:nvSpPr>
        <p:spPr>
          <a:xfrm>
            <a:off x="10637215" y="6400800"/>
            <a:ext cx="1188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F9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交付与运行流程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28600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66928" y="2286000"/>
            <a:ext cx="2651760" cy="384048"/>
          </a:xfrm>
          <a:prstGeom prst="rect">
            <a:avLst>
              <a:gd name="adj" fmla="val 23810"/>
            </a:avLst>
          </a:prstGeom>
          <a:solidFill>
            <a:srgbClr val="2F9E87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286000"/>
            <a:ext cx="2651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传输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23774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/ 压缩包拷贝到目标机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18688" y="2286000"/>
            <a:ext cx="2286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DB5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447288" y="228600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47288" y="2286000"/>
            <a:ext cx="2651760" cy="384048"/>
          </a:xfrm>
          <a:prstGeom prst="rect">
            <a:avLst>
              <a:gd name="adj" fmla="val 23810"/>
            </a:avLst>
          </a:prstGeom>
          <a:solidFill>
            <a:srgbClr val="2F9E87"/>
          </a:solidFill>
          <a:ln/>
        </p:spPr>
      </p:sp>
      <p:sp>
        <p:nvSpPr>
          <p:cNvPr id="18" name="Text 16"/>
          <p:cNvSpPr/>
          <p:nvPr/>
        </p:nvSpPr>
        <p:spPr>
          <a:xfrm>
            <a:off x="3447288" y="2286000"/>
            <a:ext cx="2651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安装依赖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11880" y="2743200"/>
            <a:ext cx="23774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前后端各 npm install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99048" y="2286000"/>
            <a:ext cx="2286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DB5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27648" y="228600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27648" y="2286000"/>
            <a:ext cx="2651760" cy="384048"/>
          </a:xfrm>
          <a:prstGeom prst="rect">
            <a:avLst>
              <a:gd name="adj" fmla="val 23810"/>
            </a:avLst>
          </a:prstGeom>
          <a:solidFill>
            <a:srgbClr val="2F9E87"/>
          </a:solidFill>
          <a:ln/>
        </p:spPr>
      </p:sp>
      <p:sp>
        <p:nvSpPr>
          <p:cNvPr id="23" name="Text 21"/>
          <p:cNvSpPr/>
          <p:nvPr/>
        </p:nvSpPr>
        <p:spPr>
          <a:xfrm>
            <a:off x="6327648" y="2286000"/>
            <a:ext cx="2651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配置 .env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2743200"/>
            <a:ext cx="23774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 DB 密码 + JWT 密钥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979408" y="2286000"/>
            <a:ext cx="2286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DB5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208008" y="228600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208008" y="2286000"/>
            <a:ext cx="2651760" cy="384048"/>
          </a:xfrm>
          <a:prstGeom prst="rect">
            <a:avLst>
              <a:gd name="adj" fmla="val 23810"/>
            </a:avLst>
          </a:prstGeom>
          <a:solidFill>
            <a:srgbClr val="2F9E87"/>
          </a:solidFill>
          <a:ln/>
        </p:spPr>
      </p:sp>
      <p:sp>
        <p:nvSpPr>
          <p:cNvPr id="28" name="Text 26"/>
          <p:cNvSpPr/>
          <p:nvPr/>
        </p:nvSpPr>
        <p:spPr>
          <a:xfrm>
            <a:off x="9208008" y="2286000"/>
            <a:ext cx="2651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初始化库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72600" y="2743200"/>
            <a:ext cx="23774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npm run init-db（幂等）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361188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66928" y="3611880"/>
            <a:ext cx="2651760" cy="384048"/>
          </a:xfrm>
          <a:prstGeom prst="rect">
            <a:avLst>
              <a:gd name="adj" fmla="val 23810"/>
            </a:avLst>
          </a:prstGeom>
          <a:solidFill>
            <a:srgbClr val="267E6C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" y="3611880"/>
            <a:ext cx="2651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API 自检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31520" y="4069080"/>
            <a:ext cx="23774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npm run self-check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18688" y="3611880"/>
            <a:ext cx="2286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DB5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447288" y="361188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447288" y="3611880"/>
            <a:ext cx="2651760" cy="384048"/>
          </a:xfrm>
          <a:prstGeom prst="rect">
            <a:avLst>
              <a:gd name="adj" fmla="val 23810"/>
            </a:avLst>
          </a:prstGeom>
          <a:solidFill>
            <a:srgbClr val="267E6C"/>
          </a:solidFill>
          <a:ln/>
        </p:spPr>
      </p:sp>
      <p:sp>
        <p:nvSpPr>
          <p:cNvPr id="37" name="Text 35"/>
          <p:cNvSpPr/>
          <p:nvPr/>
        </p:nvSpPr>
        <p:spPr>
          <a:xfrm>
            <a:off x="3447288" y="3611880"/>
            <a:ext cx="2651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⑥ 构建启动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611880" y="4069080"/>
            <a:ext cx="23774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 → npm start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99048" y="3611880"/>
            <a:ext cx="2286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DB5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327648" y="361188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27648" y="3611880"/>
            <a:ext cx="2651760" cy="384048"/>
          </a:xfrm>
          <a:prstGeom prst="rect">
            <a:avLst>
              <a:gd name="adj" fmla="val 23810"/>
            </a:avLst>
          </a:prstGeom>
          <a:solidFill>
            <a:srgbClr val="267E6C"/>
          </a:solidFill>
          <a:ln/>
        </p:spPr>
      </p:sp>
      <p:sp>
        <p:nvSpPr>
          <p:cNvPr id="42" name="Text 40"/>
          <p:cNvSpPr/>
          <p:nvPr/>
        </p:nvSpPr>
        <p:spPr>
          <a:xfrm>
            <a:off x="6327648" y="3611880"/>
            <a:ext cx="2651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⑦ 访问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492240" y="4069080"/>
            <a:ext cx="23774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浏览器打开 localhost:3000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EAF5F3"/>
          </a:solidFill>
          <a:ln/>
        </p:spPr>
      </p:sp>
      <p:sp>
        <p:nvSpPr>
          <p:cNvPr id="45" name="Text 43"/>
          <p:cNvSpPr/>
          <p:nvPr/>
        </p:nvSpPr>
        <p:spPr>
          <a:xfrm>
            <a:off x="777240" y="5175504"/>
            <a:ext cx="54864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67E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运行前提与说明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777240" y="5486400"/>
            <a:ext cx="106984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目标机已安装 Node.js 18+ / MySQL 8.0 / Git / VS Code（基础环境就绪）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单端口同源：构建后由后端托管前端，无需额外代理或服务器</a:t>
            </a:r>
            <a:endParaRPr lang="en-US" sz="1050" dirty="0"/>
          </a:p>
          <a:p>
            <a:pPr algn="l"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init-db 幂等可重复执行；self-check 可验证核心接口、鉴权、错误处理与 CORS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-640080" y="6263640"/>
            <a:ext cx="4572000" cy="594360"/>
          </a:xfrm>
          <a:prstGeom prst="rect">
            <a:avLst/>
          </a:prstGeom>
          <a:solidFill>
            <a:srgbClr val="FBE8EF">
              <a:alpha val="9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480000">
            <a:off x="8732520" y="201168"/>
            <a:ext cx="4114800" cy="502920"/>
          </a:xfrm>
          <a:prstGeom prst="rect">
            <a:avLst/>
          </a:prstGeom>
          <a:solidFill>
            <a:srgbClr val="E9F8F2">
              <a:alpha val="9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300000">
            <a:off x="9464040" y="5522976"/>
            <a:ext cx="2651760" cy="384048"/>
          </a:xfrm>
          <a:prstGeom prst="rect">
            <a:avLst/>
          </a:prstGeom>
          <a:solidFill>
            <a:srgbClr val="E8F5FB">
              <a:alpha val="9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66928"/>
            <a:ext cx="73152" cy="603504"/>
          </a:xfrm>
          <a:prstGeom prst="rect">
            <a:avLst/>
          </a:prstGeom>
          <a:solidFill>
            <a:srgbClr val="2F9E87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530352"/>
            <a:ext cx="8229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spc="100" kern="0" dirty="0">
                <a:solidFill>
                  <a:srgbClr val="2F9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不足与展望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68096" y="822960"/>
            <a:ext cx="1078992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客观反思 · 合理规划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1591056"/>
            <a:ext cx="11091672" cy="18288"/>
          </a:xfrm>
          <a:prstGeom prst="rect">
            <a:avLst/>
          </a:prstGeom>
          <a:solidFill>
            <a:srgbClr val="E3EAE6"/>
          </a:solidFill>
          <a:ln/>
        </p:spPr>
      </p:sp>
      <p:sp>
        <p:nvSpPr>
          <p:cNvPr id="9" name="Text 7"/>
          <p:cNvSpPr/>
          <p:nvPr/>
        </p:nvSpPr>
        <p:spPr>
          <a:xfrm>
            <a:off x="10637215" y="6400800"/>
            <a:ext cx="1188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B7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6928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08A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当前不足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6928" y="2286000"/>
            <a:ext cx="5349240" cy="3657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9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已有 API 自检，但缺完整单元/集成测试与 CI</a:t>
            </a:r>
            <a:endParaRPr lang="en-US" sz="1250" dirty="0"/>
          </a:p>
          <a:p>
            <a:pPr algn="l" indent="0" marL="0">
              <a:lnSpc>
                <a:spcPct val="19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Element Plus 全量引入，首屏包体偏大</a:t>
            </a:r>
            <a:endParaRPr lang="en-US" sz="1250" dirty="0"/>
          </a:p>
          <a:p>
            <a:pPr algn="l" indent="0" marL="0">
              <a:lnSpc>
                <a:spcPct val="19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图片存本地磁盘，未接入 OSS / CDN</a:t>
            </a:r>
            <a:endParaRPr lang="en-US" sz="1250" dirty="0"/>
          </a:p>
          <a:p>
            <a:pPr algn="l" indent="0" marL="0">
              <a:lnSpc>
                <a:spcPct val="19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单 JWT，无刷新令牌 / 登出黑名单</a:t>
            </a:r>
            <a:endParaRPr lang="en-US" sz="1250" dirty="0"/>
          </a:p>
          <a:p>
            <a:pPr algn="l" indent="0" marL="0">
              <a:lnSpc>
                <a:spcPct val="19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救助无地图定位；提醒仅站内，无短信邮件</a:t>
            </a:r>
            <a:endParaRPr lang="en-US" sz="1250" dirty="0"/>
          </a:p>
          <a:p>
            <a:pPr algn="l" indent="0" marL="0">
              <a:lnSpc>
                <a:spcPct val="19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 权限为用户 / 管理员两级，无细粒度 RBAC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89320" y="1783080"/>
            <a:ext cx="12802" cy="4297680"/>
          </a:xfrm>
          <a:prstGeom prst="rect">
            <a:avLst/>
          </a:prstGeom>
          <a:solidFill>
            <a:srgbClr val="E3EAE6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783080"/>
            <a:ext cx="54864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F9E8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2286000"/>
            <a:ext cx="534924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2468880"/>
            <a:ext cx="146304" cy="146304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2286000"/>
            <a:ext cx="475488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补充单元 / 集成测试与 CI 流程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2889504"/>
            <a:ext cx="534924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3072384"/>
            <a:ext cx="146304" cy="146304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2889504"/>
            <a:ext cx="475488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Plus 改按需引入，减小体积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3493008"/>
            <a:ext cx="534924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92240" y="3675888"/>
            <a:ext cx="146304" cy="146304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3493008"/>
            <a:ext cx="475488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图片上传至 OSS / CDN 提升性能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63640" y="4096512"/>
            <a:ext cx="534924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92240" y="4279392"/>
            <a:ext cx="146304" cy="146304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4096512"/>
            <a:ext cx="475488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消息多通道：短信 / 邮件 / 微信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4700016"/>
            <a:ext cx="534924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92240" y="4882896"/>
            <a:ext cx="146304" cy="146304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4700016"/>
            <a:ext cx="475488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救助求助接入地图与经纬度定位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263640" y="5303520"/>
            <a:ext cx="534924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92240" y="5486400"/>
            <a:ext cx="146304" cy="146304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0" y="5303520"/>
            <a:ext cx="475488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118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开发微信小程序端，触达更多用户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73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B35"/>
          </a:solidFill>
          <a:ln/>
        </p:spPr>
      </p:sp>
      <p:sp>
        <p:nvSpPr>
          <p:cNvPr id="3" name="Shape 1"/>
          <p:cNvSpPr/>
          <p:nvPr/>
        </p:nvSpPr>
        <p:spPr>
          <a:xfrm rot="540000">
            <a:off x="7406640" y="-320040"/>
            <a:ext cx="5303520" cy="1920240"/>
          </a:xfrm>
          <a:prstGeom prst="rect">
            <a:avLst/>
          </a:prstGeom>
          <a:solidFill>
            <a:srgbClr val="267E6C">
              <a:alpha val="7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420000">
            <a:off x="8046720" y="5074920"/>
            <a:ext cx="4572000" cy="1097280"/>
          </a:xfrm>
          <a:prstGeom prst="rect">
            <a:avLst/>
          </a:prstGeom>
          <a:solidFill>
            <a:srgbClr val="F08A5D">
              <a:alpha val="8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420000">
            <a:off x="-777240" y="5715000"/>
            <a:ext cx="4754880" cy="1005840"/>
          </a:xfrm>
          <a:prstGeom prst="rect">
            <a:avLst/>
          </a:prstGeom>
          <a:solidFill>
            <a:srgbClr val="7C6FF6">
              <a:alpha val="7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29400" y="1051560"/>
            <a:ext cx="4617720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9B9B9">
                <a:alpha val="28000"/>
              </a:srgbClr>
            </a:outerShdw>
          </a:effectLst>
        </p:spPr>
      </p:sp>
      <p:pic>
        <p:nvPicPr>
          <p:cNvPr id="7" name="Image 0" descr="E:/Wwangyesheji/docs/ppt_assets/stock/adoption_dog_pexel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9128" y="1161288"/>
            <a:ext cx="4389120" cy="30906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29400" y="1051560"/>
            <a:ext cx="4617720" cy="3246120"/>
          </a:xfrm>
          <a:prstGeom prst="rect">
            <a:avLst/>
          </a:prstGeom>
          <a:solidFill>
            <a:srgbClr val="173B35">
              <a:alpha val="42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1533449" y="1970532"/>
            <a:ext cx="590702" cy="590702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10" name="Shape 7"/>
          <p:cNvSpPr/>
          <p:nvPr/>
        </p:nvSpPr>
        <p:spPr>
          <a:xfrm>
            <a:off x="1429207" y="1605686"/>
            <a:ext cx="208483" cy="208483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11" name="Shape 8"/>
          <p:cNvSpPr/>
          <p:nvPr/>
        </p:nvSpPr>
        <p:spPr>
          <a:xfrm>
            <a:off x="1715872" y="1501445"/>
            <a:ext cx="225857" cy="225857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12" name="Shape 9"/>
          <p:cNvSpPr/>
          <p:nvPr/>
        </p:nvSpPr>
        <p:spPr>
          <a:xfrm>
            <a:off x="2011223" y="1605686"/>
            <a:ext cx="208483" cy="208483"/>
          </a:xfrm>
          <a:prstGeom prst="ellipse">
            <a:avLst/>
          </a:prstGeom>
          <a:solidFill>
            <a:srgbClr val="2F9E87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2944368"/>
            <a:ext cx="5303520" cy="74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 谢 聆 听</a:t>
            </a:r>
            <a:endParaRPr lang="en-US" sz="4200" dirty="0"/>
          </a:p>
        </p:txBody>
      </p:sp>
      <p:sp>
        <p:nvSpPr>
          <p:cNvPr id="14" name="Text 11"/>
          <p:cNvSpPr/>
          <p:nvPr/>
        </p:nvSpPr>
        <p:spPr>
          <a:xfrm>
            <a:off x="1005840" y="3950208"/>
            <a:ext cx="530352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CFE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恳请各位老师批评指正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1005840" y="4681728"/>
            <a:ext cx="2468880" cy="27432"/>
          </a:xfrm>
          <a:prstGeom prst="rect">
            <a:avLst/>
          </a:prstGeom>
          <a:solidFill>
            <a:srgbClr val="2F9E87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4919472"/>
            <a:ext cx="56692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100" kern="0" dirty="0">
                <a:solidFill>
                  <a:srgbClr val="CBA9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科学救助 · 透明领养 · 用心陪伴每一个生命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005840" y="5806440"/>
            <a:ext cx="47548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FE3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[姓名]  ·  [专业]  ·  2026.06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2026-07-08T13:44:02Z</dcterms:created>
  <dcterms:modified xsi:type="dcterms:W3CDTF">2026-07-08T13:44:02Z</dcterms:modified>
</cp:coreProperties>
</file>